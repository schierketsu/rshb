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4fda279b-02fb-37b0-6405-ed57979d1c0f}">
          <p14:sldIdLst>
            <p14:sldId id="256"/>
            <p14:sldId id="257"/>
            <p14:sldId id="258"/>
            <p14:sldId id="259"/>
          </p14:sldIdLst>
        </p14:section>
        <p14:section name="Решение" id="{b2961ae9-7cfd-7b9a-c0e5-db729a86ac2d}">
          <p14:sldIdLst>
            <p14:sldId id="260"/>
            <p14:sldId id="261"/>
            <p14:sldId id="262"/>
            <p14:sldId id="263"/>
            <p14:sldId id="264"/>
          </p14:sldIdLst>
        </p14:section>
        <p14:section name="API и данные" id="{f942bce1-46fe-2889-4e6e-8b59248aa25d}">
          <p14:sldIdLst>
            <p14:sldId id="265"/>
            <p14:sldId id="266"/>
          </p14:sldIdLst>
        </p14:section>
        <p14:section name="UX" id="{f0f9123a-db1c-518a-3346-102054b43b7f}">
          <p14:sldIdLst>
            <p14:sldId id="267"/>
            <p14:sldId id="268"/>
            <p14:sldId id="269"/>
          </p14:sldIdLst>
        </p14:section>
        <p14:section name="Эффект" id="{869c4121-d966-5acd-4679-3d46349548eb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CD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</a:rPr>
              <a:t>Diasoft FA# Treasury.Back ↔ «Диво» · РСХБ.Цифра 2026–2027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chierketsu/rshb" TargetMode="External"/><Relationship Id="rId2" Type="http://schemas.openxmlformats.org/officeDocument/2006/relationships/hyperlink" Target="https://clck.ru/3WhW9k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CCD2"/>
                </a:solidFill>
              </a:rPr>
              <a:t>РСХБ.Цифра · ИТ-кейс «Свои Финансы», задача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Интеграция Diasoft FA# Treasury.Back и ESM-платформы «Диво»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CD2"/>
                </a:solidFill>
              </a:rPr>
              <a:t>Сбои казначейского бэк-офиса сами попадают в «Диво»: событие, инцидент, SLA, дашборд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709160"/>
            <a:ext cx="211226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Операция в Diasoft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34056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118104" y="4709160"/>
            <a:ext cx="1056132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Событие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47388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631436" y="4709160"/>
            <a:ext cx="115214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Инцидент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6732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240780" y="4709160"/>
            <a:ext cx="672084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SLA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86016" y="4937760"/>
            <a:ext cx="310896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370064" y="4709160"/>
            <a:ext cx="1056132" cy="457200"/>
          </a:xfrm>
          <a:prstGeom prst="roundRect">
            <a:avLst>
              <a:gd name="adj" fmla="val 16000"/>
            </a:avLst>
          </a:prstGeom>
          <a:solidFill>
            <a:srgbClr val="1F1F1E"/>
          </a:solidFill>
          <a:ln w="9525">
            <a:solidFill>
              <a:srgbClr val="3A3A3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Дашборд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Саламон Михаил Иванович · НИУ ВШЭ · 1 курс, «Информационная безопасность»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899855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Октябрь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О сбоях в казначействе ИТ узнаёт от пользователей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627632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01 · 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31D2F"/>
                </a:solidFill>
              </a:rPr>
              <a:t>15–40 мин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B0B0B"/>
                </a:solidFill>
              </a:rPr>
              <a:t>проходит от сбоя до начала работы над ним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Сотрудник бэк-офиса замечает, что платёж не ушёл, звонит в поддержку, дежурный регистрирует инцидент вручную, 2-я линия выясняет детали.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Оценка типичной ручной схемы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7830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SLA не контролируется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нет точного начала и конца сбоя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675120" y="2898648"/>
            <a:ext cx="496793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31546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Риск срыва расчётов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6118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время уходит до cut-off платёжной системы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4270248"/>
            <a:ext cx="496793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4526280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Неполная отчётность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983480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короткие сбои не попадают в статистику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Решение: адаптер сам сообщает «Диво» о проблемах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52704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02 · РЕШЕНИЕ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 w="1587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Diasoft FA#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Treasury.Back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без доработок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88920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530498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B0B0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Integration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Adapter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30498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находит проблему,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гарантирует доставку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70778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512357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 w="1587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API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банка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12357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mTLS · OAuth2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52637" y="2057400"/>
            <a:ext cx="650138" cy="0"/>
          </a:xfrm>
          <a:prstGeom prst="line">
            <a:avLst/>
          </a:prstGeom>
          <a:noFill/>
          <a:ln w="2540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94215" y="1600200"/>
            <a:ext cx="2148840" cy="914400"/>
          </a:xfrm>
          <a:prstGeom prst="roundRect">
            <a:avLst>
              <a:gd name="adj" fmla="val 10000"/>
            </a:avLst>
          </a:prstGeom>
          <a:solidFill>
            <a:srgbClr val="E7EEFF"/>
          </a:solidFill>
          <a:ln w="15875">
            <a:solidFill>
              <a:srgbClr val="2B73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ESM-платформа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«Диво»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494215" y="26334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инцидент · SLA · дашборд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≤ 2 мин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обнаружение сбоя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90824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65144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≥ 80 %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3665144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инцидентов создаются сами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3008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07328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100 %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сбоев в SLA-отчёте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075191" y="3703320"/>
            <a:ext cx="2567864" cy="2011680"/>
          </a:xfrm>
          <a:prstGeom prst="roundRect">
            <a:avLst>
              <a:gd name="adj" fmla="val 3636"/>
            </a:avLst>
          </a:prstGeom>
          <a:solidFill>
            <a:srgbClr val="F4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49511" y="3977640"/>
            <a:ext cx="2019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4892040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доработок Diasoft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Кому это нужно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53288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03 · ЦЕЛЕВАЯ АУДИТОРИЯ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Дежурная смена ИТ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видит сбой раньше пользователя — инцидент уже создан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90824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90824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Сопровождение Diasoft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390824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получает операцию, код ошибки и инструкцию сразу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33008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33008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Владелец ИТ-услуги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233008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видит честную доступность и выполнение SLA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075191" y="1737360"/>
            <a:ext cx="548640" cy="548640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75191" y="2560320"/>
            <a:ext cx="247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Бэк-офис казначейства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075191" y="338328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знает, что о сбое уже известно, — не звонит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4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Плюс руководство ИТ и казначейства: состояние критичных услуг и риск срыва расчётов — на одном дашборде.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Что передаём: события о проблемах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04 · КОНЦЕПЦИЯ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Операции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задержка, ошибка, отказ в расчёте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OPERATION_DELAYED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OPERATION_FAILED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SETTLEMENT_REJECTED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8218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Процессы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закрытие дня, курсы, очередь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2538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EOD_CLOSE_DELAYED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2538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MARKET_DATA_STALE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2538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PROCESSING_BACKLOG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78308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Система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212848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недоступность, шлюзы, задания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02117" y="26974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SYSTEM_UNAVAILABLE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02117" y="31546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EXTERNAL_GATEWAY_ERROR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02117" y="3611880"/>
            <a:ext cx="2966618" cy="365760"/>
          </a:xfrm>
          <a:prstGeom prst="roundRect">
            <a:avLst>
              <a:gd name="adj" fmla="val 15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BATCH_JOB_FAILED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Событие ≠ инцидент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«Диво» группирует похожие события и создаёт инцидент по порогу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38218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FIRING / RESOLVED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338218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проблема ушла — инцидент закрывается сам, SLA считается точно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27797" y="45262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+ метрики и heartbeat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127797" y="493776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агрегаты раз в 5 мин для SLA, сигнал живости раз в 60 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Как передаём: push от адаптера, по событию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04 · КОНЦЕПЦИЯ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651760"/>
          </a:xfrm>
          <a:prstGeom prst="roundRect">
            <a:avLst>
              <a:gd name="adj" fmla="val 2759"/>
            </a:avLst>
          </a:prstGeom>
          <a:solidFill>
            <a:srgbClr val="F4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Кто инициирует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</a:rPr>
              <a:t>Адаптер — push в «Диво»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4724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</a:rPr>
              <a:t>Diasoft не дорабатываем: адаптер читает реплику БД. «Диво» получает готовые события и не опрашивает чужие системы.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2651760"/>
          </a:xfrm>
          <a:prstGeom prst="roundRect">
            <a:avLst>
              <a:gd name="adj" fmla="val 2759"/>
            </a:avLst>
          </a:prstGeom>
          <a:solidFill>
            <a:srgbClr val="F4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181051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В каком режиме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1488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</a:rPr>
              <a:t>По событию + по расписанию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788920"/>
            <a:ext cx="4724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</a:rPr>
              <a:t>Проблема уходит в «Диво» за секунды. Метрики для SLA — пакетом раз в 5 минут, heartbeat — раз в минуту.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Рассмотрели и отклонили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Pull из «Диво»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задержка = период опроса, «Диво» должно знать внутренности Diasoft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38218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Push прямо из Diasoft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338218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доработка вендорской системы, события теряются при сбое «Диво»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27797" y="493776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Kafka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7797" y="5285232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избыточно для десятков событий в минуту — путь развития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Схема интеграции: четыре зоны ответственности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92938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05 · АРХИТЕКТУРА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874520" cy="3520440"/>
          </a:xfrm>
          <a:prstGeom prst="roundRect">
            <a:avLst>
              <a:gd name="adj" fmla="val 3902"/>
            </a:avLst>
          </a:prstGeom>
          <a:solidFill>
            <a:srgbClr val="F4F4F2"/>
          </a:solidFill>
          <a:ln w="15875">
            <a:solidFill>
              <a:srgbClr val="5C5B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Diasoft FA#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Treasury.Back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Серверы приложений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сделки · расчёты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БД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журнал, статусы, задания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65760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Read-only реплика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для адаптера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B57"/>
                </a:solidFill>
              </a:rPr>
              <a:t>без доработок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150876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5875">
            <a:solidFill>
              <a:srgbClr val="0B0B0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161848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Integration Adapter · Treasury Event 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22860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Source Connectors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опрос 30 с · probe 20 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2860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Rules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нормативы · severity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9718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Transactional Outbox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9718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Delivery Worker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retry · circuit breaker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36576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Heartbeat · метрики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60 с · 5 мин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3657600"/>
            <a:ext cx="1508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31D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Dead Letter Queue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алерт в мониторинг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</a:rPr>
              <a:t>гарантированная доставка, идемпотентность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508760"/>
            <a:ext cx="1188720" cy="3520440"/>
          </a:xfrm>
          <a:prstGeom prst="roundRect">
            <a:avLst>
              <a:gd name="adj" fmla="val 6154"/>
            </a:avLst>
          </a:prstGeom>
          <a:solidFill>
            <a:srgbClr val="F4F4F2"/>
          </a:solidFill>
          <a:ln w="15875">
            <a:solidFill>
              <a:srgbClr val="5C5B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16184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API Gateway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28600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mTLS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03720" y="283464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OAuth2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338328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лимиты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3931920"/>
            <a:ext cx="914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аудит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12480" y="1508760"/>
            <a:ext cx="3230575" cy="3520440"/>
          </a:xfrm>
          <a:prstGeom prst="roundRect">
            <a:avLst>
              <a:gd name="adj" fmla="val 2264"/>
            </a:avLst>
          </a:prstGeom>
          <a:solidFill>
            <a:srgbClr val="E7EEFF"/>
          </a:solidFill>
          <a:ln w="15875">
            <a:solidFill>
              <a:srgbClr val="2B73F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1618488"/>
            <a:ext cx="2956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ESM-платформа «Диво»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22860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Integration API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/events · /metrics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96348" y="22860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Корреляция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дедуп · группировка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49640" y="29718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Сервис»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инциденты · SLA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96348" y="29718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CMDB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услуги и КЕ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49640" y="36576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Мера»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дашборды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96348" y="3657600"/>
            <a:ext cx="14095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6E5E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</a:rPr>
              <a:t>«Диво Портал»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B57"/>
                </a:solidFill>
              </a:rPr>
              <a:t>виджет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468880" y="3246120"/>
            <a:ext cx="365760" cy="0"/>
          </a:xfrm>
          <a:prstGeom prst="line">
            <a:avLst/>
          </a:prstGeom>
          <a:noFill/>
          <a:ln w="25400">
            <a:solidFill>
              <a:srgbClr val="5C5B57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42316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SQL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read-only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55080" y="3246120"/>
            <a:ext cx="365760" cy="0"/>
          </a:xfrm>
          <a:prstGeom prst="line">
            <a:avLst/>
          </a:prstGeom>
          <a:noFill/>
          <a:ln w="317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0936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HTTPS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REST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01000" y="3246120"/>
            <a:ext cx="365760" cy="0"/>
          </a:xfrm>
          <a:prstGeom prst="line">
            <a:avLst/>
          </a:prstGeom>
          <a:noFill/>
          <a:ln w="317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955280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B57"/>
                </a:solidFill>
              </a:rPr>
              <a:t>push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Адаптер изолирует системы друг от друга · outbox и повторы не теряют события · идемпотентность по eventId · чтение только с реплики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Sequence diagram: от задержки до закрытия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43230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06 · СХЕМА ИНТЕГРАЦИИ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Diasoft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4592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1188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Адаптер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«Диво»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46920" y="15087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4F4F2"/>
          </a:solidFill>
          <a:ln w="9525">
            <a:solidFill>
              <a:srgbClr val="5C5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Дежурный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607040" y="1965960"/>
            <a:ext cx="0" cy="4160520"/>
          </a:xfrm>
          <a:prstGeom prst="line">
            <a:avLst/>
          </a:prstGeom>
          <a:noFill/>
          <a:ln w="15875">
            <a:solidFill>
              <a:srgbClr val="C9CC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45920" y="2395728"/>
            <a:ext cx="2926080" cy="0"/>
          </a:xfrm>
          <a:prstGeom prst="line">
            <a:avLst/>
          </a:prstGeom>
          <a:noFill/>
          <a:ln w="19050">
            <a:solidFill>
              <a:srgbClr val="5C5B57"/>
            </a:solidFill>
            <a:prstDash val="dash"/>
            <a:head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64592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B57"/>
                </a:solidFill>
              </a:rPr>
              <a:t>опрос реплики, каждые 30 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45920" y="2852928"/>
            <a:ext cx="292608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64592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сделка 22 мин при нормативе 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127248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FFF4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OPERATION_DELAYED · MAJOR, в outbox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904488"/>
            <a:ext cx="329184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POST /events · Idempotency-Key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4361688"/>
            <a:ext cx="3291840" cy="0"/>
          </a:xfrm>
          <a:prstGeom prst="line">
            <a:avLst/>
          </a:prstGeom>
          <a:noFill/>
          <a:ln w="19050">
            <a:solidFill>
              <a:srgbClr val="5C5B57"/>
            </a:solidFill>
            <a:prstDash val="dash"/>
            <a:head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B57"/>
                </a:solidFill>
              </a:rPr>
              <a:t>202 Accepted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63840" y="4818888"/>
            <a:ext cx="2743200" cy="0"/>
          </a:xfrm>
          <a:prstGeom prst="line">
            <a:avLst/>
          </a:prstGeom>
          <a:noFill/>
          <a:ln w="19050">
            <a:solidFill>
              <a:srgbClr val="E31D2F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863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1D2F"/>
                </a:solidFill>
              </a:rPr>
              <a:t>инцидент P2 + уведомление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645920" y="5276088"/>
            <a:ext cx="292608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645920" y="4983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расчёт завершён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5733288"/>
            <a:ext cx="3291840" cy="0"/>
          </a:xfrm>
          <a:prstGeom prst="line">
            <a:avLst/>
          </a:prstGeom>
          <a:noFill/>
          <a:ln w="19050">
            <a:solidFill>
              <a:srgbClr val="0B0B0B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572000" y="5440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POST /events · RESOLVED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6007608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E4F6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</a:rPr>
              <a:t>инцидент закрыт, SLA-таймер остановлен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Что если что-то сломалось: события не теряются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432304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07 · ОБРАБОТКА ОШИБОК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38528"/>
            <a:ext cx="182880" cy="182880"/>
          </a:xfrm>
          <a:prstGeom prst="ellipse">
            <a:avLst/>
          </a:prstGeom>
          <a:solidFill>
            <a:srgbClr val="E31D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182880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«Диво» недоступно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Событие ждёт в outbox. Повторы с растущей паузой, после восстановления — досылка пакетом.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55448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98768" y="1938528"/>
            <a:ext cx="182880" cy="182880"/>
          </a:xfrm>
          <a:prstGeom prst="ellipse">
            <a:avLst/>
          </a:prstGeom>
          <a:solidFill>
            <a:srgbClr val="FF5B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18808" y="182880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Событие пришло дважды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42316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eventId — ключ идемпотентности: «Диво» ответит 200 DUPLICATE, второго инцидента не будет.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4270248"/>
            <a:ext cx="182880" cy="182880"/>
          </a:xfrm>
          <a:prstGeom prst="ellipse">
            <a:avLst/>
          </a:prstGeom>
          <a:solidFill>
            <a:srgbClr val="E31D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416052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Упал сам адаптер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5488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Нет heartbeat 3 минуты — «Диво» само поднимает тревогу и показывает «Нет данных», а не «Норма».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78728" y="388620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8768" y="4270248"/>
            <a:ext cx="182880" cy="182880"/>
          </a:xfrm>
          <a:prstGeom prst="ellipse">
            <a:avLst/>
          </a:prstGeom>
          <a:solidFill>
            <a:srgbClr val="C9CCD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18808" y="416052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</a:rPr>
              <a:t>Ошибка в данных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475488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5B57"/>
                </a:solidFill>
              </a:rPr>
              <a:t>Без повторов — в Dead Letter Queue и алерт команде интеграции.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API-контракт: 5 методов REST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02996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08 · API-КОНТРАКТ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673352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6550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673352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Передать событие — основной канал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12264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76856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2585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/events/batch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276856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До 500 событий: досылка после сбоя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2B73FE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862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/events/{eventId}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880360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Узнать, создан ли инцидент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319272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83864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4655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483864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Агрегаты за 5 минут для SLA и дашбордов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11094415" cy="0"/>
          </a:xfrm>
          <a:prstGeom prst="line">
            <a:avLst/>
          </a:prstGeom>
          <a:noFill/>
          <a:ln w="12700">
            <a:solidFill>
              <a:srgbClr val="E6E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87368"/>
            <a:ext cx="731520" cy="329184"/>
          </a:xfrm>
          <a:prstGeom prst="roundRect">
            <a:avLst>
              <a:gd name="adj" fmla="val 16667"/>
            </a:avLst>
          </a:prstGeom>
          <a:solidFill>
            <a:srgbClr val="0B0B0B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0690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/heartbeat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8736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Адаптер жив — раз в 60 секунд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3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принято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379394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07994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3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3607994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дубль, уже было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210148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38748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1D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4xx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6438748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ошибка данных → DLQ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40901" y="484632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4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269501" y="4956048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5B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· 503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269501" y="5413248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повторить позже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OpenAPI 3.1 · mTLS + OAuth2 · ошибки в формате RFC 9457 · полная спецификация — api/openapi.yaml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Схема данных: каждое поле отвечает на вопрос «Диво»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2029968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09 · СХЕМА ДАННЫХ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4343400"/>
          </a:xfrm>
          <a:prstGeom prst="rect">
            <a:avLst/>
          </a:prstGeom>
          <a:solidFill>
            <a:srgbClr val="0B0B0B"/>
          </a:solidFill>
          <a:ln/>
        </p:spPr>
        <p:txBody>
          <a:bodyPr wrap="square" lIns="177800" tIns="203200" rIns="203200" bIns="177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"eventId": "0192f1a4-7c3e-…",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"eventType": "OPERATION_DELAYED",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"state": "FIRING",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"severity": "MAJOR",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"occurredAt": "2026-10-26T11:30:00+03:00",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"service": { "code": "TREASURY_FX_MM_SETTLEMENT",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"ciId": "CI-TB-SETTL-01"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"operation": { "id": "FX-2026-834724",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"amountClass": "LARGE"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"sla": { "timeToBreachSec": 13359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"message": "Превышено время расчёта…"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5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57276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0195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то же событие или новое? — без дублей инцидентов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2295144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eventType · severity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62432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что случилось и насколько плохо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301752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46704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проблема есть или ушла — закрыть инцидент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39896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service.ciId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06908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какую ИТ-услугу задело — SLA и группа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46227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sla.timeToBreachSec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791456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сколько осталось — главный для приоритета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184648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amountClass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5513832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значимость без суммы — банковская тайна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Мониторинг: что горит и что спасать первым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391446" cy="4745736"/>
          </a:xfrm>
          <a:prstGeom prst="roundRect">
            <a:avLst>
              <a:gd name="adj" fmla="val 771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Мониторинг: что горит и что спасать первы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354870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1499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863630" y="16184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Статус интеграции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863630" y="20116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тишина — норма, только если адаптер жив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1499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863630" y="29900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SLA под угрозой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863630" y="33832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«осталось 22 мин» вместо дедлайна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31499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3630" y="4361688"/>
            <a:ext cx="27794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Таблица событий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863630" y="4754880"/>
            <a:ext cx="27794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критичность первой колонкой, устранённые приглушены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Карточка события: сколько осталось и кто работает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900416" cy="4192397"/>
          </a:xfrm>
          <a:prstGeom prst="roundRect">
            <a:avLst>
              <a:gd name="adj" fmla="val 872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Карточка события: сколько осталось и кто работа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863840" cy="41558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6184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Запас до дедлайна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20116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крупно — сколько минут до нарушения SLA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2396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00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Что произошло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33832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от Diasoft до инцидента за секунды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82396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3616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Одно действие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47548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инцидент уже создан — открыть его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Дашборд «Диво Мера»: доступность и SLA за месяц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10 · МАКЕТЫ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30352" y="1490472"/>
            <a:ext cx="7900416" cy="4252468"/>
          </a:xfrm>
          <a:prstGeom prst="roundRect">
            <a:avLst>
              <a:gd name="adj" fmla="val 860"/>
            </a:avLst>
          </a:prstGeom>
          <a:solidFill>
            <a:srgbClr val="FFFFFF"/>
          </a:solidFill>
          <a:ln w="9525">
            <a:solidFill>
              <a:srgbClr val="E6E5E0"/>
            </a:solidFill>
            <a:prstDash val="solid"/>
          </a:ln>
        </p:spPr>
      </p:sp>
      <p:pic>
        <p:nvPicPr>
          <p:cNvPr id="5" name="Image 0" descr="Дашборд «Диво Мера»: доступность и SLA за меся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863840" cy="42158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6002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6184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Эффект на виду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20116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доступность, время обнаружения и восстановления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23960" y="29718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00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30 дней по услугам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33832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видно, какая услуга болеет систематически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823960" y="4343400"/>
            <a:ext cx="384048" cy="38404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36168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Уровни событий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4754880"/>
            <a:ext cx="2270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B57"/>
                </a:solidFill>
              </a:rPr>
              <a:t>сколько CRITICAL, MAJOR и WARNING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Ожидаемый эффект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11 · ЭФФЕКТ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≤ 2 мин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334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время обнаружения сбоя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992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15–40 мин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55448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182880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≥ 80 %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3347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инцидентов создаются автоматически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29992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≈ 0 %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0233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100 %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82803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сбоев попадают в SLA-отчёт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19379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частично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8728" y="3749040"/>
            <a:ext cx="5364328" cy="1920240"/>
          </a:xfrm>
          <a:prstGeom prst="roundRect">
            <a:avLst>
              <a:gd name="adj" fmla="val 3810"/>
            </a:avLst>
          </a:prstGeom>
          <a:solidFill>
            <a:srgbClr val="F4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98768" y="40233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36B3F"/>
                </a:solidFill>
              </a:rPr>
              <a:t>−50 %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482803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</a:rPr>
              <a:t>обращений во время известного сбоя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519379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B57"/>
                </a:solidFill>
              </a:rPr>
              <a:t>было: каждый звонит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</a:rPr>
              <a:t>«Было» — оценка типичной ручной схемы. Цели предлагается зафиксировать как KPI пилота и измерять в «Диво Мера».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0B0B"/>
                </a:solidFill>
              </a:rPr>
              <a:t>План внедрения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10896"/>
            <a:ext cx="1728216" cy="274320"/>
          </a:xfrm>
          <a:prstGeom prst="roundRect">
            <a:avLst>
              <a:gd name="adj" fmla="val 20000"/>
            </a:avLst>
          </a:prstGeom>
          <a:solidFill>
            <a:srgbClr val="F4F4F2"/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B0B"/>
                </a:solidFill>
              </a:rPr>
              <a:t>12 · ВНЕДРЕНИЕ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77240" y="1901952"/>
            <a:ext cx="10637215" cy="0"/>
          </a:xfrm>
          <a:prstGeom prst="line">
            <a:avLst/>
          </a:prstGeom>
          <a:noFill/>
          <a:ln w="25400">
            <a:solidFill>
              <a:srgbClr val="E6E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Согласование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2 нед.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события, нормативы, доступ к реплике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04099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804099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MVP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804099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4–6 нед.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04099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4 события, /events, экран мониторинга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59558" y="1664208"/>
            <a:ext cx="475488" cy="475488"/>
          </a:xfrm>
          <a:prstGeom prst="ellipse">
            <a:avLst/>
          </a:prstGeom>
          <a:solidFill>
            <a:srgbClr val="FF5B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Теневой пилот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4 нед.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59558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события без инцидентов, калибровка порогов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017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017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Эксплуатация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15017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2 нед.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017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автоинциденты, SLA, карточка, виджет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70476" y="1664208"/>
            <a:ext cx="475488" cy="475488"/>
          </a:xfrm>
          <a:prstGeom prst="ellipse">
            <a:avLst/>
          </a:prstGeom>
          <a:solidFill>
            <a:srgbClr val="0B0B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570476" y="2377440"/>
            <a:ext cx="20725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</a:rPr>
              <a:t>Развитие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570476" y="2816352"/>
            <a:ext cx="20725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C5B57"/>
                </a:solidFill>
              </a:rPr>
              <a:t>далее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570476" y="3200400"/>
            <a:ext cx="19811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метрики, «Мера», другие системы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FFEAD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70916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</a:rPr>
              <a:t>Теневой пилот — главная страховка: месяц события идут в «Диво» без создания инцидентов, пороги калибруются на реальных данных, «шторма» ложных инцидентов не будет.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Итог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6276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Адаптер без доработок Diasoft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push событий в «Диво», outbox и повторы — ничего не теряется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4963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Контракт, который можно проверить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880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5 методов REST, OpenAPI 3.1, JSON Schema и 14 примеров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64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Раздел «Диво» в Figma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мониторинг, карточка события, дашборд, виджет — UI Kit на переменных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2336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Измеримый эффект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617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обнаружение ≤ 2 мин, ≥ 80 % автоинцидентов, полный SLA-отчёт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3A3A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4864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Репозиторий: </a:t>
            </a:r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github.com/schierketsu/rshb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CCD2"/>
                </a:solidFill>
              </a:rPr>
              <a:t>Макеты Figma: </a:t>
            </a:r>
            <a:pPr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clck.ru/3WhW9k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28255" y="5486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Саламон Михаил Иванович · НИУ ВШЭ · 1 курс, «Информационная безопасность»</a:t>
            </a:r>
            <a:endParaRPr lang="en-US" sz="1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33832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soft Divo">
  <a:themeElements>
    <a:clrScheme name="Diasoft Divo">
      <a:dk1>
        <a:srgbClr val="0B0B0B"/>
      </a:dk1>
      <a:lt1>
        <a:srgbClr val="FFFFFF"/>
      </a:lt1>
      <a:dk2>
        <a:srgbClr val="0B0B0B"/>
      </a:dk2>
      <a:lt2>
        <a:srgbClr val="F4F4F2"/>
      </a:lt2>
      <a:accent1>
        <a:srgbClr val="0B0B0B"/>
      </a:accent1>
      <a:accent2>
        <a:srgbClr val="FF5B1F"/>
      </a:accent2>
      <a:accent3>
        <a:srgbClr val="E31D2F"/>
      </a:accent3>
      <a:accent4>
        <a:srgbClr val="8A6414"/>
      </a:accent4>
      <a:accent5>
        <a:srgbClr val="2B73FE"/>
      </a:accent5>
      <a:accent6>
        <a:srgbClr val="236B3F"/>
      </a:accent6>
      <a:hlink>
        <a:srgbClr val="0B0B0B"/>
      </a:hlink>
      <a:folHlink>
        <a:srgbClr val="1F1F1E"/>
      </a:folHlink>
    </a:clrScheme>
    <a:fontScheme name="Diasoft D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Интеграция Diasoft FA# Treasury.Back и ESM-платформы «Диво»</dc:title>
  <dc:subject>Кейс «Свои Финансы», задача 2</dc:subject>
  <dc:creator>Участник стипендиальной программы РСХБ.Цифра</dc:creator>
  <cp:lastModifiedBy>Участник стипендиальной программы РСХБ.Цифра</cp:lastModifiedBy>
  <cp:revision>1</cp:revision>
  <dcterms:created xsi:type="dcterms:W3CDTF">2026-10-26T13:10:15Z</dcterms:created>
  <dcterms:modified xsi:type="dcterms:W3CDTF">2026-10-26T13:10:15Z</dcterms:modified>
</cp:coreProperties>
</file>