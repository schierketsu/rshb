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" id="{A9CE090B-1605-6819-E424-81D377F79590}">
          <p14:sldIdLst>
            <p14:sldId id="256"/>
            <p14:sldId id="257"/>
            <p14:sldId id="258"/>
            <p14:sldId id="259"/>
            <p14:sldId id="260"/>
          </p14:sldIdLst>
        </p14:section>
        <p14:section name="Концепция" id="{19A645DF-3BE0-C69C-EE07-41E0279B3CCC}">
          <p14:sldIdLst>
            <p14:sldId id="261"/>
            <p14:sldId id="262"/>
          </p14:sldIdLst>
        </p14:section>
        <p14:section name="Архитектура" id="{1EB37BEA-2087-FF1E-41FA-0BD134823742}">
          <p14:sldIdLst>
            <p14:sldId id="263"/>
            <p14:sldId id="264"/>
            <p14:sldId id="265"/>
            <p14:sldId id="266"/>
          </p14:sldIdLst>
        </p14:section>
        <p14:section name="API и данные" id="{489F9938-C81A-DC17-2EA1-2854A253FE37}">
          <p14:sldIdLst>
            <p14:sldId id="267"/>
            <p14:sldId id="268"/>
            <p14:sldId id="269"/>
            <p14:sldId id="270"/>
          </p14:sldIdLst>
        </p14:section>
        <p14:section name="UX" id="{6793F754-136D-BEF7-7FE4-9DA2FF9B8524}">
          <p14:sldIdLst>
            <p14:sldId id="271"/>
            <p14:sldId id="272"/>
            <p14:sldId id="273"/>
            <p14:sldId id="274"/>
          </p14:sldIdLst>
        </p14:section>
        <p14:section name="Эффект" id="{11C13D03-D3A7-3FD1-78EF-4DA8815AB24E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72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10607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38328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9CCD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B0B0B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984"/>
                </a:solidFill>
              </a:rPr>
              <a:t>Diasoft FA# Treasury.Back ↔ «Диво» · РСХБ.Цифра 2026–2027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РСХБ.Цифра · стипендиальная программа 2026–2027 · ИТ-кейс «Свои Финансы», задача 2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Интеграция Diasoft FA# Treasury.Back и ESM-платформы «Диво»</a:t>
            </a:r>
            <a:endParaRPr lang="en-US" sz="38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3832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9CCD2"/>
                </a:solidFill>
              </a:rPr>
              <a:t>Автоматическая передача событий казначейского бэк-офиса в «Диво» для мониторинга ИТ-услуг, инцидентов и SLA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2112264" cy="457200"/>
          </a:xfrm>
          <a:prstGeom prst="roundRect">
            <a:avLst>
              <a:gd name="adj" fmla="val 16000"/>
            </a:avLst>
          </a:prstGeom>
          <a:solidFill>
            <a:srgbClr val="1F1F1E"/>
          </a:solidFill>
          <a:ln w="9525">
            <a:solidFill>
              <a:srgbClr val="3A3A3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Операция в Diasoft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34056" y="4937760"/>
            <a:ext cx="31089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118104" y="4709160"/>
            <a:ext cx="1056132" cy="457200"/>
          </a:xfrm>
          <a:prstGeom prst="roundRect">
            <a:avLst>
              <a:gd name="adj" fmla="val 16000"/>
            </a:avLst>
          </a:prstGeom>
          <a:solidFill>
            <a:srgbClr val="1F1F1E"/>
          </a:solidFill>
          <a:ln w="9525">
            <a:solidFill>
              <a:srgbClr val="3A3A3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Событие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47388" y="4937760"/>
            <a:ext cx="31089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631436" y="4709160"/>
            <a:ext cx="1152144" cy="457200"/>
          </a:xfrm>
          <a:prstGeom prst="roundRect">
            <a:avLst>
              <a:gd name="adj" fmla="val 16000"/>
            </a:avLst>
          </a:prstGeom>
          <a:solidFill>
            <a:srgbClr val="1F1F1E"/>
          </a:solidFill>
          <a:ln w="9525">
            <a:solidFill>
              <a:srgbClr val="3A3A3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Инцидент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6732" y="4937760"/>
            <a:ext cx="31089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240780" y="4709160"/>
            <a:ext cx="672084" cy="457200"/>
          </a:xfrm>
          <a:prstGeom prst="roundRect">
            <a:avLst>
              <a:gd name="adj" fmla="val 16000"/>
            </a:avLst>
          </a:prstGeom>
          <a:solidFill>
            <a:srgbClr val="1F1F1E"/>
          </a:solidFill>
          <a:ln w="9525">
            <a:solidFill>
              <a:srgbClr val="3A3A3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SLA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86016" y="4937760"/>
            <a:ext cx="31089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370064" y="4709160"/>
            <a:ext cx="1056132" cy="457200"/>
          </a:xfrm>
          <a:prstGeom prst="roundRect">
            <a:avLst>
              <a:gd name="adj" fmla="val 16000"/>
            </a:avLst>
          </a:prstGeom>
          <a:solidFill>
            <a:srgbClr val="1F1F1E"/>
          </a:solidFill>
          <a:ln w="9525">
            <a:solidFill>
              <a:srgbClr val="3A3A3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Дашборд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>
                <a:solidFill>
                  <a:srgbClr val="FFFFFF"/>
                </a:solidFill>
              </a:rPr>
              <a:t>Саламон Михаил Иванович</a:t>
            </a:r>
            <a:r>
              <a:rPr lang="en-US" sz="1400">
                <a:solidFill>
                  <a:srgbClr val="FFFFFF"/>
                </a:solidFill>
              </a:rPr>
              <a:t> · </a:t>
            </a:r>
            <a:r>
              <a:rPr lang="ru-RU" sz="1400">
                <a:solidFill>
                  <a:srgbClr val="FFFFFF"/>
                </a:solidFill>
              </a:rPr>
              <a:t>НИУ ВШЭ</a:t>
            </a:r>
            <a:r>
              <a:rPr lang="en-US" sz="1400">
                <a:solidFill>
                  <a:srgbClr val="FFFFFF"/>
                </a:solidFill>
              </a:rPr>
              <a:t> · </a:t>
            </a:r>
            <a:r>
              <a:rPr lang="ru-RU" sz="1400">
                <a:solidFill>
                  <a:srgbClr val="FFFFFF"/>
                </a:solidFill>
              </a:rPr>
              <a:t>1 </a:t>
            </a:r>
            <a:r>
              <a:rPr lang="en-US" sz="1400">
                <a:solidFill>
                  <a:srgbClr val="FFFFFF"/>
                </a:solidFill>
              </a:rPr>
              <a:t>курс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899855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C9CCD2"/>
                </a:solidFill>
              </a:rPr>
              <a:t>Октябрь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Сегодня о сбоях в казначействе ИТ узнаёт от пользователей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627632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01 · ПРОБЛЕМА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Как это происходит сейчас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E31D2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029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0B0B"/>
                </a:solidFill>
              </a:rPr>
              <a:t>Расчёт по сделке «завис» в Treasury.Back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20299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C5B57"/>
                </a:solidFill>
              </a:rPr>
              <a:t>0 мин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" y="2368296"/>
            <a:ext cx="0" cy="201168"/>
          </a:xfrm>
          <a:prstGeom prst="line">
            <a:avLst/>
          </a:prstGeom>
          <a:noFill/>
          <a:ln w="1905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9464"/>
            <a:ext cx="384048" cy="384048"/>
          </a:xfrm>
          <a:prstGeom prst="ellipse">
            <a:avLst/>
          </a:prstGeom>
          <a:solidFill>
            <a:srgbClr val="F4F4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334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0B0B"/>
                </a:solidFill>
              </a:rPr>
              <a:t>Сотрудник бэк-офиса замечает, что платёж не ушёл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6334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C5B57"/>
                </a:solidFill>
              </a:rPr>
              <a:t>+10–20 мин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" y="2971800"/>
            <a:ext cx="0" cy="201168"/>
          </a:xfrm>
          <a:prstGeom prst="line">
            <a:avLst/>
          </a:prstGeom>
          <a:noFill/>
          <a:ln w="19050">
            <a:solidFill>
              <a:srgbClr val="E6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F4F4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369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0B0B"/>
                </a:solidFill>
              </a:rPr>
              <a:t>Звонок или обращение в поддержку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23697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C5B57"/>
                </a:solidFill>
              </a:rPr>
              <a:t>+5–10 мин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0664" y="3575304"/>
            <a:ext cx="0" cy="201168"/>
          </a:xfrm>
          <a:prstGeom prst="line">
            <a:avLst/>
          </a:prstGeom>
          <a:noFill/>
          <a:ln w="19050">
            <a:solidFill>
              <a:srgbClr val="E6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76472"/>
            <a:ext cx="384048" cy="384048"/>
          </a:xfrm>
          <a:prstGeom prst="ellipse">
            <a:avLst/>
          </a:prstGeom>
          <a:solidFill>
            <a:srgbClr val="F4F4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840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0B0B"/>
                </a:solidFill>
              </a:rPr>
              <a:t>1-я линия вручную регистрирует инцидент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404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C5B57"/>
                </a:solidFill>
              </a:rPr>
              <a:t>+5 мин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0664" y="4178808"/>
            <a:ext cx="0" cy="201168"/>
          </a:xfrm>
          <a:prstGeom prst="line">
            <a:avLst/>
          </a:prstGeom>
          <a:noFill/>
          <a:ln w="19050">
            <a:solidFill>
              <a:srgbClr val="E6E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79976"/>
            <a:ext cx="384048" cy="384048"/>
          </a:xfrm>
          <a:prstGeom prst="ellipse">
            <a:avLst/>
          </a:prstGeom>
          <a:solidFill>
            <a:srgbClr val="F4F4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B0B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439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B0B0B"/>
                </a:solidFill>
              </a:rPr>
              <a:t>2-я линия выясняет: какая операция, какой модуль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44398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C5B57"/>
                </a:solidFill>
              </a:rPr>
              <a:t>+5–10 мин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6217920" cy="868680"/>
          </a:xfrm>
          <a:prstGeom prst="roundRect">
            <a:avLst>
              <a:gd name="adj" fmla="val 8421"/>
            </a:avLst>
          </a:prstGeom>
          <a:solidFill>
            <a:srgbClr val="FCE4E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1937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31D2F"/>
                </a:solidFill>
              </a:rPr>
              <a:t>15–40 мин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519379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</a:rPr>
              <a:t>проходит до начала работы над сбоем — и всё это время до cut-off расчётов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1508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Последствия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78040" y="1965960"/>
            <a:ext cx="44622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0664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31D2F"/>
                </a:solidFill>
              </a:rPr>
              <a:t>SLA не контролируется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4688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B57"/>
                </a:solidFill>
              </a:rPr>
              <a:t>Нет точного времени начала и окончания сбоя — длительность восстанавливают по памяти.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178040" y="3319272"/>
            <a:ext cx="44622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406640" y="34838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31D2F"/>
                </a:solidFill>
              </a:rPr>
              <a:t>Риск срыва расчётов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382219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B57"/>
                </a:solidFill>
              </a:rPr>
              <a:t>Время уходит, пока до cut-off платёжной системы или депозитария ещё можно успеть.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78040" y="4672584"/>
            <a:ext cx="44622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406640" y="48371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31D2F"/>
                </a:solidFill>
              </a:rPr>
              <a:t>Неполная отчётность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517550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B57"/>
                </a:solidFill>
              </a:rPr>
              <a:t>Короткие сбои никто не регистрирует — их нет в статистике и в разборе причин.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6053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</a:rPr>
              <a:t>Оценка типичной ручной схемы, не данные банка</a:t>
            </a:r>
            <a:endParaRPr lang="en-US" sz="1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Решение: адаптер сам сообщает «Диво» о проблемах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3337560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02 · РЕШЕНИЕ И БИЗНЕС-ЦЕННОСТЬ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4F4F2"/>
          </a:solidFill>
          <a:ln w="15875">
            <a:solidFill>
              <a:srgbClr val="5C5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B0B"/>
                </a:solidFill>
              </a:rPr>
              <a:t>Diasoft FA#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0B0B"/>
                </a:solidFill>
              </a:rPr>
              <a:t>Treasury.Back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B57"/>
                </a:solidFill>
              </a:rPr>
              <a:t>источник фактов,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B57"/>
                </a:solidFill>
              </a:rPr>
              <a:t>без доработок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88920" y="2057400"/>
            <a:ext cx="650138" cy="0"/>
          </a:xfrm>
          <a:prstGeom prst="line">
            <a:avLst/>
          </a:prstGeom>
          <a:noFill/>
          <a:ln w="25400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530498" y="160020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B0B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B0B"/>
                </a:solidFill>
              </a:rPr>
              <a:t>Integration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0B0B"/>
                </a:solidFill>
              </a:rPr>
              <a:t>Adapter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30498" y="2606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B57"/>
                </a:solidFill>
              </a:rPr>
              <a:t>обнаруживает, нормализует,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B57"/>
                </a:solidFill>
              </a:rPr>
              <a:t>гарантирует доставку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70778" y="2057400"/>
            <a:ext cx="650138" cy="0"/>
          </a:xfrm>
          <a:prstGeom prst="line">
            <a:avLst/>
          </a:prstGeom>
          <a:noFill/>
          <a:ln w="25400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512357" y="160020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4F4F2"/>
          </a:solidFill>
          <a:ln w="15875">
            <a:solidFill>
              <a:srgbClr val="5C5B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B0B"/>
                </a:solidFill>
              </a:rPr>
              <a:t>API Gateway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0B0B"/>
                </a:solidFill>
              </a:rPr>
              <a:t>банка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12357" y="2606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B57"/>
                </a:solidFill>
              </a:rPr>
              <a:t>mTLS · OAuth2 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B57"/>
                </a:solidFill>
              </a:rPr>
              <a:t>аудит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52637" y="2057400"/>
            <a:ext cx="650138" cy="0"/>
          </a:xfrm>
          <a:prstGeom prst="line">
            <a:avLst/>
          </a:prstGeom>
          <a:noFill/>
          <a:ln w="25400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494215" y="160020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E7EEFF"/>
          </a:solidFill>
          <a:ln w="15875">
            <a:solidFill>
              <a:srgbClr val="2B73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B0B"/>
                </a:solidFill>
              </a:rPr>
              <a:t>ESM-платформа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0B0B"/>
                </a:solidFill>
              </a:rPr>
              <a:t>«Диво»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494215" y="2606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B57"/>
                </a:solidFill>
              </a:rPr>
              <a:t>инцидент · SLA 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B57"/>
                </a:solidFill>
              </a:rPr>
              <a:t>дашборд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1737360"/>
            <a:ext cx="741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чтение реплики БД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725058" y="1737360"/>
            <a:ext cx="741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REST push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F4F4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840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B0B0B"/>
                </a:solidFill>
              </a:rPr>
              <a:t>≤ 2 мин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0060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</a:rPr>
              <a:t>обнаружение сбоя вместо 15–40 мин ручной схемы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90824" y="361188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F4F4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19424" y="3840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B0B0B"/>
                </a:solidFill>
              </a:rPr>
              <a:t>≥ 80 %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3619424" y="480060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</a:rPr>
              <a:t>инцидентов казначейства регистрируются автоматически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33008" y="361188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F4F4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61608" y="3840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B0B0B"/>
                </a:solidFill>
              </a:rPr>
              <a:t>100 %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6461608" y="480060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</a:rPr>
              <a:t>сбоев попадают в SLA-отчёт с точной длительностью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075191" y="361188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F4F4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03791" y="3840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B0B0B"/>
                </a:solidFill>
              </a:rPr>
              <a:t>0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9303791" y="480060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</a:rPr>
              <a:t>доработок Diasoft: адаптер только читает реплику БД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8984"/>
                </a:solidFill>
              </a:rPr>
              <a:t>Целевые значения для пилота; измеряются в «Диво Мера»</a:t>
            </a:r>
            <a:endParaRPr lang="en-US" sz="1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Пять ролей получают пользу от интеграции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2532888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03 · ЦЕЛЕВАЯ АУДИТОРИЯ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72579" cy="43434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16610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Дежурная смена ИТ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1661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1-я линия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1615379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B0B"/>
                </a:solidFill>
              </a:rPr>
              <a:t>Экран мониторинга событий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06240"/>
            <a:ext cx="16610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</a:rPr>
              <a:t>Видит сбой раньше пользователя, инцидент уже создан и классифицирован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04099" y="1600200"/>
            <a:ext cx="2072579" cy="43434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32699" y="1828800"/>
            <a:ext cx="457200" cy="45720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32699" y="2468880"/>
            <a:ext cx="16610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Сопровождение Diasoft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32699" y="3063240"/>
            <a:ext cx="1661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2-я линия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32699" y="3520440"/>
            <a:ext cx="1615379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B0B"/>
                </a:solidFill>
              </a:rPr>
              <a:t>Карточка события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32699" y="4206240"/>
            <a:ext cx="16610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</a:rPr>
              <a:t>Операция, модуль, код ошибки и инструкция — без переписки с бэк-офисом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59558" y="1600200"/>
            <a:ext cx="2072579" cy="43434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88158" y="1828800"/>
            <a:ext cx="457200" cy="45720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88158" y="2468880"/>
            <a:ext cx="16610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Владелец ИТ-услуги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88158" y="3063240"/>
            <a:ext cx="1661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сервис-менеджер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88158" y="3520440"/>
            <a:ext cx="1615379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B0B"/>
                </a:solidFill>
              </a:rPr>
              <a:t>Дашборд «Диво Мера»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288158" y="4206240"/>
            <a:ext cx="16610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</a:rPr>
              <a:t>Объективная доступность и выполнение SLA, топ причин сбоев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017" y="1600200"/>
            <a:ext cx="2072579" cy="43434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43617" y="1828800"/>
            <a:ext cx="457200" cy="45720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543617" y="2468880"/>
            <a:ext cx="16610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Бэк-офис казначейства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43617" y="3063240"/>
            <a:ext cx="1661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пользователи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617" y="3520440"/>
            <a:ext cx="1615379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B0B"/>
                </a:solidFill>
              </a:rPr>
              <a:t>Виджет «Диво Портала»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543617" y="4206240"/>
            <a:ext cx="16610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</a:rPr>
              <a:t>Знает, что о сбое уже известно, — не тратит время на звонки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570476" y="1600200"/>
            <a:ext cx="2072579" cy="434340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99076" y="1828800"/>
            <a:ext cx="457200" cy="45720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799076" y="2468880"/>
            <a:ext cx="16610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Руководство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99076" y="3063240"/>
            <a:ext cx="1661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ИТ и казначейство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99076" y="3520440"/>
            <a:ext cx="1615379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0B0B"/>
                </a:solidFill>
              </a:rPr>
              <a:t>Дашборд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799076" y="4206240"/>
            <a:ext cx="16610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</a:rPr>
              <a:t>Риск срыва расчётов и состояние критичных услуг — в одном месте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Где в работе бэк-офиса возникают сбои и что полезно «Диво»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04 · АНАЛИЗ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658569" cy="566928"/>
          </a:xfrm>
          <a:prstGeom prst="roundRect">
            <a:avLst>
              <a:gd name="adj" fmla="val 12903"/>
            </a:avLst>
          </a:prstGeom>
          <a:solidFill>
            <a:srgbClr val="F4F4F2"/>
          </a:solidFill>
          <a:ln w="12700">
            <a:solidFill>
              <a:srgbClr val="0B0B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Захват сделки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25497" y="1837944"/>
            <a:ext cx="192024" cy="0"/>
          </a:xfrm>
          <a:prstGeom prst="line">
            <a:avLst/>
          </a:prstGeom>
          <a:noFill/>
          <a:ln w="19050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212848"/>
            <a:ext cx="16585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1D2F"/>
                </a:solidFill>
              </a:rPr>
              <a:t>⚠ </a:t>
            </a:r>
            <a:r>
              <a:rPr lang="en-US" sz="1200" dirty="0">
                <a:solidFill>
                  <a:srgbClr val="E31D2F"/>
                </a:solidFill>
              </a:rPr>
              <a:t>очередь растёт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35809" y="1554480"/>
            <a:ext cx="1658569" cy="566928"/>
          </a:xfrm>
          <a:prstGeom prst="roundRect">
            <a:avLst>
              <a:gd name="adj" fmla="val 12903"/>
            </a:avLst>
          </a:prstGeom>
          <a:solidFill>
            <a:srgbClr val="F4F4F2"/>
          </a:solidFill>
          <a:ln w="12700">
            <a:solidFill>
              <a:srgbClr val="0B0B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Подтверждение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2666" y="1837944"/>
            <a:ext cx="192024" cy="0"/>
          </a:xfrm>
          <a:prstGeom prst="line">
            <a:avLst/>
          </a:prstGeom>
          <a:noFill/>
          <a:ln w="19050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435809" y="2212848"/>
            <a:ext cx="16585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1D2F"/>
                </a:solidFill>
              </a:rPr>
              <a:t>⚠ </a:t>
            </a:r>
            <a:r>
              <a:rPr lang="en-US" sz="1200" dirty="0">
                <a:solidFill>
                  <a:srgbClr val="E31D2F"/>
                </a:solidFill>
              </a:rPr>
              <a:t>нет подтверждения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22978" y="1554480"/>
            <a:ext cx="1658569" cy="566928"/>
          </a:xfrm>
          <a:prstGeom prst="roundRect">
            <a:avLst>
              <a:gd name="adj" fmla="val 12903"/>
            </a:avLst>
          </a:prstGeom>
          <a:solidFill>
            <a:srgbClr val="F4F4F2"/>
          </a:solidFill>
          <a:ln w="12700">
            <a:solidFill>
              <a:srgbClr val="0B0B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Расчёты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99836" y="1837944"/>
            <a:ext cx="192024" cy="0"/>
          </a:xfrm>
          <a:prstGeom prst="line">
            <a:avLst/>
          </a:prstGeom>
          <a:noFill/>
          <a:ln w="19050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322978" y="2212848"/>
            <a:ext cx="16585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1D2F"/>
                </a:solidFill>
              </a:rPr>
              <a:t>⚠ </a:t>
            </a:r>
            <a:r>
              <a:rPr lang="en-US" sz="1200" dirty="0">
                <a:solidFill>
                  <a:srgbClr val="E31D2F"/>
                </a:solidFill>
              </a:rPr>
              <a:t>поручение отклонено, задержка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0148" y="1554480"/>
            <a:ext cx="1658569" cy="566928"/>
          </a:xfrm>
          <a:prstGeom prst="roundRect">
            <a:avLst>
              <a:gd name="adj" fmla="val 12903"/>
            </a:avLst>
          </a:prstGeom>
          <a:solidFill>
            <a:srgbClr val="F4F4F2"/>
          </a:solidFill>
          <a:ln w="12700">
            <a:solidFill>
              <a:srgbClr val="0B0B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Учёт в АБС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87005" y="1837944"/>
            <a:ext cx="192024" cy="0"/>
          </a:xfrm>
          <a:prstGeom prst="line">
            <a:avLst/>
          </a:prstGeom>
          <a:noFill/>
          <a:ln w="19050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210148" y="2212848"/>
            <a:ext cx="16585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1D2F"/>
                </a:solidFill>
              </a:rPr>
              <a:t>⚠ </a:t>
            </a:r>
            <a:r>
              <a:rPr lang="en-US" sz="1200" dirty="0">
                <a:solidFill>
                  <a:srgbClr val="E31D2F"/>
                </a:solidFill>
              </a:rPr>
              <a:t>ошибка проводки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7317" y="1554480"/>
            <a:ext cx="1658569" cy="566928"/>
          </a:xfrm>
          <a:prstGeom prst="roundRect">
            <a:avLst>
              <a:gd name="adj" fmla="val 12903"/>
            </a:avLst>
          </a:prstGeom>
          <a:solidFill>
            <a:srgbClr val="F4F4F2"/>
          </a:solidFill>
          <a:ln w="12700">
            <a:solidFill>
              <a:srgbClr val="0B0B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Курсы и переоценка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74174" y="1837944"/>
            <a:ext cx="192024" cy="0"/>
          </a:xfrm>
          <a:prstGeom prst="line">
            <a:avLst/>
          </a:prstGeom>
          <a:noFill/>
          <a:ln w="19050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8097317" y="2212848"/>
            <a:ext cx="16585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1D2F"/>
                </a:solidFill>
              </a:rPr>
              <a:t>⚠ </a:t>
            </a:r>
            <a:r>
              <a:rPr lang="en-US" sz="1200" dirty="0">
                <a:solidFill>
                  <a:srgbClr val="E31D2F"/>
                </a:solidFill>
              </a:rPr>
              <a:t>данные устарели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84486" y="1554480"/>
            <a:ext cx="1658569" cy="566928"/>
          </a:xfrm>
          <a:prstGeom prst="roundRect">
            <a:avLst>
              <a:gd name="adj" fmla="val 12903"/>
            </a:avLst>
          </a:prstGeom>
          <a:solidFill>
            <a:srgbClr val="F4F4F2"/>
          </a:solidFill>
          <a:ln w="12700">
            <a:solidFill>
              <a:srgbClr val="0B0B0B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Закрытие дня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984486" y="2212848"/>
            <a:ext cx="16585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1D2F"/>
                </a:solidFill>
              </a:rPr>
              <a:t>⚠ </a:t>
            </a:r>
            <a:r>
              <a:rPr lang="en-US" sz="1200" dirty="0">
                <a:solidFill>
                  <a:srgbClr val="E31D2F"/>
                </a:solidFill>
              </a:rPr>
              <a:t>шаг не завершён в срок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9260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Какие данные Diasoft передаём и зачем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10128"/>
          <a:ext cx="11094415" cy="91440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Данные Diasoft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Что даёт «Диво»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Процесс «Диво»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Статусы операций и время нахождения на этапе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Задержки относительно норматива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Инциденты, SLA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Ошибки обработки и отказы внешних систем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Немедленный инцидент с кодом ошибки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Инциденты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Глубина очереди, пропускная способность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Деградация видна до жалоб пользователей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Мониторинг, «Мера»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Статусы шагов закрытия дня, загрузки курсов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Контроль критичных ежедневных процессов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Инциденты, SLA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Агрегаты: доля операций в нормативе, p95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Объективная SLA-отчётность и тренды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«Диво Мера»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solidFill>
            <a:srgbClr val="FFF4D6"/>
          </a:solidFill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Не передаём: </a:t>
            </a:r>
            <a:r>
              <a:rPr lang="en-US" sz="1300" dirty="0">
                <a:solidFill>
                  <a:srgbClr val="0B0B0B"/>
                </a:solidFill>
              </a:rPr>
              <a:t>суммы, счета, наименования контрагентов, ПДн — банковская тайна; вместо суммы — класс значимости amountClass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Что передаём: 11 типов событий, привязанных к ИТ-услугам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728216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05 · КОНЦЕПЦИЯ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786384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eventType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Когда возникает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Severity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ИТ-услуга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OPERATION_DELAYED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</a:rPr>
                        <a:t>операция на этапе дольше норматива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5B1F"/>
                          </a:solidFill>
                        </a:rPr>
                        <a:t>WARNING → MAJOR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B57"/>
                          </a:solidFill>
                        </a:rPr>
                        <a:t>Расчёты FX/МБК, ЦБ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OPERATION_FAILED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</a:rPr>
                        <a:t>операция перешла в ошибку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5B1F"/>
                          </a:solidFill>
                        </a:rPr>
                        <a:t>MAJOR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B57"/>
                          </a:solidFill>
                        </a:rPr>
                        <a:t>операционные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SETTLEMENT_REJECTED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</a:rPr>
                        <a:t>поручение отклонено ПС / депозитарием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31D2F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B57"/>
                          </a:solidFill>
                        </a:rPr>
                        <a:t>Расчёты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PROCESSING_BACKLOG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</a:rPr>
                        <a:t>очередь необработанных операций выше порога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5B1F"/>
                          </a:solidFill>
                        </a:rPr>
                        <a:t>WARNING → MAJOR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B57"/>
                          </a:solidFill>
                        </a:rPr>
                        <a:t>Учёт сделок, расчёты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EOD_CLOSE_DELAYED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</a:rPr>
                        <a:t>закрытие операционного дня дольше норматива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31D2F"/>
                          </a:solidFill>
                        </a:rPr>
                        <a:t>MAJOR → CRITICAL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B57"/>
                          </a:solidFill>
                        </a:rPr>
                        <a:t>Закрытие дня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EOD_STEP_FAILED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</a:rPr>
                        <a:t>шаг закрытия дня завершился ошибкой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31D2F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B57"/>
                          </a:solidFill>
                        </a:rPr>
                        <a:t>Закрытие дня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MARKET_DATA_STALE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</a:rPr>
                        <a:t>курсы и котировки не обновлялись дольше порога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5B1F"/>
                          </a:solidFill>
                        </a:rPr>
                        <a:t>MAJOR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B57"/>
                          </a:solidFill>
                        </a:rPr>
                        <a:t>Рыночные данные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EXTERNAL_GATEWAY_ERROR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</a:rPr>
                        <a:t>ошибки обмена со SWIFT/СПФС, ПС БР, НРД, биржей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31D2F"/>
                          </a:solidFill>
                        </a:rPr>
                        <a:t>MAJOR → CRITICAL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B57"/>
                          </a:solidFill>
                        </a:rPr>
                        <a:t>Расчёты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BATCH_JOB_FAILED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</a:rPr>
                        <a:t>упало регламентное задание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5B1F"/>
                          </a:solidFill>
                        </a:rPr>
                        <a:t>MAJOR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B57"/>
                          </a:solidFill>
                        </a:rPr>
                        <a:t>по заданию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SYSTEM_DEGRADED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</a:rPr>
                        <a:t>время отклика / доля ошибок выше порога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5B1F"/>
                          </a:solidFill>
                        </a:rPr>
                        <a:t>MAJOR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B57"/>
                          </a:solidFill>
                        </a:rPr>
                        <a:t>все услуги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SYSTEM_UNAVAILABLE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0B0B"/>
                          </a:solidFill>
                        </a:rPr>
                        <a:t>сервер не отвечает на 3 проверки подряд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31D2F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B57"/>
                          </a:solidFill>
                        </a:rPr>
                        <a:t>все услуги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481328"/>
            <a:ext cx="3001975" cy="2057400"/>
          </a:xfrm>
          <a:prstGeom prst="roundRect">
            <a:avLst>
              <a:gd name="adj" fmla="val 3556"/>
            </a:avLst>
          </a:prstGeom>
          <a:solidFill>
            <a:srgbClr val="F4F4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42248" y="1645920"/>
            <a:ext cx="2636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Событие ≠ инцидент</a:t>
            </a:r>
            <a:endParaRPr lang="en-US" sz="1600" dirty="0"/>
          </a:p>
        </p:txBody>
      </p:sp>
      <p:sp>
        <p:nvSpPr>
          <p:cNvPr id="4" name="Text 4"/>
          <p:cNvSpPr txBox="1"/>
          <p:nvPr/>
        </p:nvSpPr>
        <p:spPr>
          <a:xfrm>
            <a:off x="8842248" y="2011680"/>
            <a:ext cx="2636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0B0B"/>
                </a:solidFill>
              </a:rPr>
              <a:t>Адаптер сообщает факты. «Диво» по правилам решает, создавать ли инцидент: группирует, подавляет, применяет пороги.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41080" y="3675888"/>
            <a:ext cx="300197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842248" y="3813048"/>
            <a:ext cx="2636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FIRING / RESOLVED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4133088"/>
            <a:ext cx="2636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Парное событие закрывает инцидент и останавливает SLA-таймер автоматически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41080" y="5047488"/>
            <a:ext cx="300197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842248" y="5166360"/>
            <a:ext cx="2636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+ метрики раз в 5 мин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+ heartbeat раз в 60 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Как передаём: push от адаптера, гибрид режимов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728216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05 · КОНЦЕПЦИЯ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0B0B"/>
                </a:solidFill>
              </a:rPr>
              <a:t>Режим передачи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4F4F2"/>
          </a:solidFill>
          <a:ln w="19050">
            <a:solidFill>
              <a:srgbClr val="0B0B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B0B0B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ВЫБРАНО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67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По событию (push)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146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0B0B"/>
                </a:solidFill>
              </a:rPr>
              <a:t>Все события из каталога — задержка секунды, нет лишнего трафика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4F4F2"/>
          </a:solidFill>
          <a:ln w="19050">
            <a:solidFill>
              <a:srgbClr val="0B0B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6616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B0B0B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ВЫБРАНО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538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По расписанию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886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0B0B"/>
                </a:solidFill>
              </a:rPr>
              <a:t>Метрики раз в 5 мин, heartbeat раз в 60 с, досылка накопленного пакетами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93776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B57"/>
                </a:solidFill>
              </a:rPr>
              <a:t>НЕТ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4910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C5B57"/>
                </a:solidFill>
              </a:rPr>
              <a:t>Потоково (Kafka)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52578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B57"/>
                </a:solidFill>
              </a:rPr>
              <a:t>Избыточно при единицах событий в минуту; «Диво» пришлось бы стать потребителем брокера. Путь развития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0B0B"/>
                </a:solidFill>
              </a:rPr>
              <a:t>Кто инициирует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45352" y="201168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219456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B57"/>
                </a:solidFill>
              </a:rPr>
              <a:t>НЕТ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571232" y="2167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C5B57"/>
                </a:solidFill>
              </a:rPr>
              <a:t>Pull из «Диво»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25146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B57"/>
                </a:solidFill>
              </a:rPr>
              <a:t>«Диво» должно знать внутренности Diasoft; задержка = частота опроса; нагрузка на ESM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45352" y="338328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356616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B57"/>
                </a:solidFill>
              </a:rPr>
              <a:t>НЕТ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571232" y="3538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C5B57"/>
                </a:solidFill>
              </a:rPr>
              <a:t>Push напрямую из Diasoft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71232" y="3886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B57"/>
                </a:solidFill>
              </a:rPr>
              <a:t>Доработка вендорской системы; при недоступности «Диво» события теряются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45352" y="4754880"/>
            <a:ext cx="5394960" cy="1207008"/>
          </a:xfrm>
          <a:prstGeom prst="roundRect">
            <a:avLst>
              <a:gd name="adj" fmla="val 6061"/>
            </a:avLst>
          </a:prstGeom>
          <a:solidFill>
            <a:srgbClr val="F4F4F2"/>
          </a:solidFill>
          <a:ln w="19050">
            <a:solidFill>
              <a:srgbClr val="0B0B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493776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B0B0B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ВЫБРАНО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571232" y="4910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Push из Integration Adapter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571232" y="52578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0B0B"/>
                </a:solidFill>
              </a:rPr>
              <a:t>Diasoft без доработок, нормализованные события, гарантированная доставка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B57"/>
                </a:solidFill>
              </a:rPr>
              <a:t>Ожидаемый объём: единицы событий в минуту, до ~50 событий/с в пике закрытия дня — REST выдерживает с запасом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Схема интеграции: четыре зоны ответственности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929384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06 · АРХИТЕКТУРА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74520" cy="3520440"/>
          </a:xfrm>
          <a:prstGeom prst="roundRect">
            <a:avLst>
              <a:gd name="adj" fmla="val 3902"/>
            </a:avLst>
          </a:prstGeom>
          <a:solidFill>
            <a:srgbClr val="F4F4F2"/>
          </a:solidFill>
          <a:ln w="15875">
            <a:solidFill>
              <a:srgbClr val="5C5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18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Diasoft FA#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Treasury.Back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Серверы приложений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сделки · расчёты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БД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журнал, статусы, задания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Read-only реплика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для адаптера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5B57"/>
                </a:solidFill>
              </a:rPr>
              <a:t>без доработок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150876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875">
            <a:solidFill>
              <a:srgbClr val="0B0B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16184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Integration Adapter · Treasury Event Gateway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28600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Source Connectors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опрос 30 с · probe 20 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Rules Engine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нормативы · severity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97180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Transactional Outbox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97180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Delivery Worker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retry · circuit breaker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65760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Heartbeat · метрики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60 с · 5 мин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65760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1D2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Dead Letter Queue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алерт в мониторинг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4434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B0B"/>
                </a:solidFill>
              </a:rPr>
              <a:t>гарантированная доставка, идемпотентность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508760"/>
            <a:ext cx="1188720" cy="3520440"/>
          </a:xfrm>
          <a:prstGeom prst="roundRect">
            <a:avLst>
              <a:gd name="adj" fmla="val 6154"/>
            </a:avLst>
          </a:prstGeom>
          <a:solidFill>
            <a:srgbClr val="F4F4F2"/>
          </a:solidFill>
          <a:ln w="15875">
            <a:solidFill>
              <a:srgbClr val="5C5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6184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API Gateway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28600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mTLS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283464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OAuth2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338328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лимиты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393192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аудит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12480" y="1508760"/>
            <a:ext cx="3230575" cy="3520440"/>
          </a:xfrm>
          <a:prstGeom prst="roundRect">
            <a:avLst>
              <a:gd name="adj" fmla="val 2264"/>
            </a:avLst>
          </a:prstGeom>
          <a:solidFill>
            <a:srgbClr val="E7EEFF"/>
          </a:solidFill>
          <a:ln w="15875">
            <a:solidFill>
              <a:srgbClr val="2B73F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9640" y="1618488"/>
            <a:ext cx="2956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ESM-платформа «Диво»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49640" y="2286000"/>
            <a:ext cx="14095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Integration API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/events · /metrics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96348" y="2286000"/>
            <a:ext cx="14095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Корреляция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дедуп · группировка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49640" y="2971800"/>
            <a:ext cx="14095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«Диво Сервис»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инциденты · SLA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96348" y="2971800"/>
            <a:ext cx="14095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CMDB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услуги и КЕ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49640" y="3657600"/>
            <a:ext cx="14095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«Диво Мера»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дашборды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96348" y="3657600"/>
            <a:ext cx="14095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E5E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B0B"/>
                </a:solidFill>
              </a:rPr>
              <a:t>«Диво Портал»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B57"/>
                </a:solidFill>
              </a:rPr>
              <a:t>виджет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68880" y="3246120"/>
            <a:ext cx="365760" cy="0"/>
          </a:xfrm>
          <a:prstGeom prst="line">
            <a:avLst/>
          </a:prstGeom>
          <a:noFill/>
          <a:ln w="25400">
            <a:solidFill>
              <a:srgbClr val="5C5B57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242316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B57"/>
                </a:solidFill>
              </a:rPr>
              <a:t>SQL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C5B57"/>
                </a:solidFill>
              </a:rPr>
              <a:t>read-only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5080" y="3246120"/>
            <a:ext cx="3657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630936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B57"/>
                </a:solidFill>
              </a:rPr>
              <a:t>HTTPS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C5B57"/>
                </a:solidFill>
              </a:rPr>
              <a:t>REST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01000" y="3246120"/>
            <a:ext cx="365760" cy="0"/>
          </a:xfrm>
          <a:prstGeom prst="line">
            <a:avLst/>
          </a:prstGeom>
          <a:noFill/>
          <a:ln w="31750">
            <a:solidFill>
              <a:srgbClr val="0B0B0B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7955280" y="2862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5B57"/>
                </a:solidFill>
              </a:rPr>
              <a:t>push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25780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Адаптер между системами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550408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Diasoft не знает модель «Диво» и наоборот — обновления изолированы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367964" y="525780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Outbox + повторы + DLQ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367964" y="5550408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недоступность «Диво» не теряет ни одного события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187288" y="525780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Идемпотентность по eventId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187288" y="5550408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повторная доставка не создаёт второй инцидент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006611" y="5257800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Read-only реплика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06611" y="5550408"/>
            <a:ext cx="2636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нет нагрузки на рабочую БД в часы расчётов</a:t>
            </a:r>
            <a:endParaRPr lang="en-US" sz="12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Sequence diagram: от задержки расчёта до инцидента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929384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06 · АРХИТЕКТУРА</a:t>
            </a:r>
            <a:endParaRPr lang="en-US" sz="1000" dirty="0"/>
          </a:p>
        </p:txBody>
      </p:sp>
      <p:pic>
        <p:nvPicPr>
          <p:cNvPr id="4" name="Image 0" descr="Sequence diagram основного сценари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235" y="1444752"/>
            <a:ext cx="9801225" cy="4800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291072"/>
            <a:ext cx="11094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8984"/>
                </a:solidFill>
              </a:rPr>
              <a:t>Сценарии сбоев (недоступность «Диво», ошибка данных, перегрузка, падение Diasoft и адаптера) — в diagrams/seq-failure и seq-health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Обработка ошибок: ни одно событие не теряется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07 · НАДЁЖНОСТЬ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Ситуация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Поведение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Результат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31D2F"/>
                          </a:solidFill>
                        </a:rPr>
                        <a:t>«Диво» недоступно (503, таймаут)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Событие уже в outbox; повторы 1→2→4…300 с; после 5 ошибок — circuit breaker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После восстановления досылка пакетами /events/batch по порядку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Повторная доставка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Тот же eventId = Idempotency-Key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200 DUPLICATE — второго инцидента нет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Ошибка данных (400, 409, 422)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Без повторов → Dead Letter Queue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Алерт команде интеграции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Перегрузка (429)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Пауза по Retry-After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Плавная досылка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31D2F"/>
                          </a:solidFill>
                        </a:rPr>
                        <a:t>Недоступен Diasoft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3 неудачных health-probe → SYSTEM_UNAVAILABLE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Инцидент P1, производные события подавлены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31D2F"/>
                          </a:solidFill>
                        </a:rPr>
                        <a:t>Упал сам адаптер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Heartbeat не приходит 3 мин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«Диво» само создаёт событие, статус услуг — «Нет данных»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31D2F"/>
                          </a:solidFill>
                        </a:rPr>
                        <a:t>Плановые работы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«Диво» знает окно работ по КЕ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События сохраняются, инциденты не создаются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Тишина ≠ норма: отсутствие событий без heartbeat означает «нет данных», а не «всё хорошо»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Событие ≠ инцидент: правила «Диво» и расчёт severity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527048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08 · ПРАВИЛА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Обработка события в «Диво»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01952"/>
            <a:ext cx="365760" cy="36576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883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Валидация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48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JSON Schema, КЕ есть в CMDB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05456"/>
            <a:ext cx="365760" cy="36576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871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Дедупликация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752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по eventId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90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Подавление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558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не-PROD, плановые работы, активная авария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12464"/>
            <a:ext cx="365760" cy="36576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6941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Группировка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9593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по correlationKey в окне 10 мин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365760" cy="36576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297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Порог инцидента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5628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CRITICAL — сразу; MAJOR — от 5 событий за 10 мин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919472"/>
            <a:ext cx="365760" cy="36576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9011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Обновить, а не создать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166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если по ключу уже открыт инцидент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522976"/>
            <a:ext cx="365760" cy="365760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5504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RESOLVED → закрыть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7698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и остановить SLA-таймер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1481328"/>
            <a:ext cx="5516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0B0B"/>
                </a:solidFill>
              </a:rPr>
              <a:t>Severity = критичность услуги × отклонение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01952"/>
          <a:ext cx="5516575" cy="9144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Отклонение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Услуга кр. 1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кр. 2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кр. 3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Недоступность, отказ внешней системы, ошибка шага закрытия дня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31D2F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31D2F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B1F"/>
                          </a:solidFill>
                        </a:rPr>
                        <a:t>MAJOR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&gt; 200 % норматива или ≤ 30 мин до нарушения SLA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31D2F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B1F"/>
                          </a:solidFill>
                        </a:rPr>
                        <a:t>MAJOR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6414"/>
                          </a:solidFill>
                        </a:rPr>
                        <a:t>WARNING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50–200 % норматива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5B1F"/>
                          </a:solidFill>
                        </a:rPr>
                        <a:t>MAJOR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6414"/>
                          </a:solidFill>
                        </a:rPr>
                        <a:t>WARNING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6414"/>
                          </a:solidFill>
                        </a:rPr>
                        <a:t>WARNING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&lt; 50 % норматива, рост очереди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6414"/>
                          </a:solidFill>
                        </a:rPr>
                        <a:t>WARNING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73FE"/>
                          </a:solidFill>
                        </a:rPr>
                        <a:t>INFO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73FE"/>
                          </a:solidFill>
                        </a:rPr>
                        <a:t>INFO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6126480" y="5349240"/>
            <a:ext cx="5516575" cy="777240"/>
          </a:xfrm>
          <a:prstGeom prst="roundRect">
            <a:avLst>
              <a:gd name="adj" fmla="val 9412"/>
            </a:avLst>
          </a:prstGeom>
          <a:solidFill>
            <a:srgbClr val="F4F4F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09360" y="5413248"/>
            <a:ext cx="5150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</a:rPr>
              <a:t>Повышают: валютирование сегодня, класс суммы LARGE / VERY_LARGE. Приоритет: CRITICAL → P1/P2, MAJOR → P2/P3; группа — из карточки КЕ.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REST API: 5 endpoints, спецификация OpenAPI 3.1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2029968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09 · API-КОНТРАКТ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Базовый URL: https://api-gw.rshb.local/divo/api/v1/integrations/treasury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Метод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Путь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Назначение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Входные параметры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Ответ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/events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Передать одно событие — основной канал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Idempotency-Key, тело TreasuryEvent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202 / 200 дубль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/events/batch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До 500 событий: досылка после сбоя, пик закрытия дня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batchId, events[1..500]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207 Multi-Status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73F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/events/{eventId}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Статус обработки: создан ли инцидент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eventId в пути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200 EventStatus / 404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/metrics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Агрегаты за 5 мин для SLA и дашбордов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snapshotId, period, services[]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202 / 200 дубль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/heartbeat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</a:rPr>
                        <a:t>Живость адаптера раз в 60 с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adapterId, source, outbox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204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2636444" cy="1143000"/>
          </a:xfrm>
          <a:prstGeom prst="roundRect">
            <a:avLst>
              <a:gd name="adj" fmla="val 6400"/>
            </a:avLst>
          </a:prstGeom>
          <a:solidFill>
            <a:srgbClr val="F4F4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13232" y="5138928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Идемпотентность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5440680"/>
            <a:ext cx="230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0B0B"/>
                </a:solidFill>
              </a:rPr>
              <a:t>Idempotency-Key = eventId: повтор → 200, другое тело → 409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67964" y="5029200"/>
            <a:ext cx="2636444" cy="1143000"/>
          </a:xfrm>
          <a:prstGeom prst="roundRect">
            <a:avLst>
              <a:gd name="adj" fmla="val 6400"/>
            </a:avLst>
          </a:prstGeom>
          <a:solidFill>
            <a:srgbClr val="F4F4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32556" y="5138928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Асинхронность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532556" y="5440680"/>
            <a:ext cx="230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0B0B"/>
                </a:solidFill>
              </a:rPr>
              <a:t>202 = «надёжно сохранено»; инцидент создаётся за ~1–2 с, статус — через GET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87288" y="5029200"/>
            <a:ext cx="2636444" cy="1143000"/>
          </a:xfrm>
          <a:prstGeom prst="roundRect">
            <a:avLst>
              <a:gd name="adj" fmla="val 6400"/>
            </a:avLst>
          </a:prstGeom>
          <a:solidFill>
            <a:srgbClr val="F4F4F2"/>
          </a:solidFill>
          <a:ln/>
        </p:spPr>
      </p:sp>
      <p:sp>
        <p:nvSpPr>
          <p:cNvPr id="5" name="Text 10"/>
          <p:cNvSpPr txBox="1"/>
          <p:nvPr/>
        </p:nvSpPr>
        <p:spPr>
          <a:xfrm>
            <a:off x="6351880" y="5138928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Безопасность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351880" y="5440680"/>
            <a:ext cx="230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0B0B"/>
                </a:solidFill>
              </a:rPr>
              <a:t>mTLS по сертификату УЦ банка + OAuth2 client credentials, scope на запись и чтение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06611" y="5029200"/>
            <a:ext cx="2636444" cy="1143000"/>
          </a:xfrm>
          <a:prstGeom prst="roundRect">
            <a:avLst>
              <a:gd name="adj" fmla="val 6400"/>
            </a:avLst>
          </a:prstGeom>
          <a:solidFill>
            <a:srgbClr val="F4F4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71203" y="5138928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Ошибки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71203" y="5440680"/>
            <a:ext cx="230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0B0B"/>
                </a:solidFill>
              </a:rPr>
              <a:t>RFC 9457 problem+json: код, поле, traceId для сквозной трассировки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Коды ответов и реакция адаптера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2029968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09 · API-КОНТРАКТ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6400800" cy="914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Код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Когда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Реакция адаптера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6B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событие принято и сохранено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6B3F"/>
                          </a:solidFill>
                        </a:rPr>
                        <a:t>отметить доставленным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6B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eventId уже был (DUPLICATE)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6B3F"/>
                          </a:solidFill>
                        </a:rPr>
                        <a:t>отметить доставленным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36B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пакет: результат по каждому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6B3F"/>
                          </a:solidFill>
                        </a:rPr>
                        <a:t>повторить только RETRY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31D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битый JSON, нет полей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31D2F"/>
                          </a:solidFill>
                        </a:rPr>
                        <a:t>DLQ, без повторов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истёк токен / сертификат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5B1F"/>
                          </a:solidFill>
                        </a:rPr>
                        <a:t>обновить токен и повторить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31D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нет прав, источник не зарегистрирован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31D2F"/>
                          </a:solidFill>
                        </a:rPr>
                        <a:t>DLQ + алерт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GET: события не было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5B1F"/>
                          </a:solidFill>
                        </a:rPr>
                        <a:t>отправить повторно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31D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тот же eventId, другое тело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31D2F"/>
                          </a:solidFill>
                        </a:rPr>
                        <a:t>DLQ (ошибка адаптера)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событие &gt; 64 КБ / пакет &gt; 500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5B1F"/>
                          </a:solidFill>
                        </a:rPr>
                        <a:t>раздробить пакет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31D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нет услуги/КЕ, неверный формат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31D2F"/>
                          </a:solidFill>
                        </a:rPr>
                        <a:t>DLQ + алерт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превышен лимит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5B1F"/>
                          </a:solidFill>
                        </a:rPr>
                        <a:t>ждать Retry-After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B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«Диво» недоступно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5B1F"/>
                          </a:solidFill>
                        </a:rPr>
                        <a:t>повтор с backoff, событие в outbox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223760" y="1481328"/>
            <a:ext cx="4419295" cy="4434840"/>
          </a:xfrm>
          <a:prstGeom prst="rect">
            <a:avLst/>
          </a:prstGeom>
          <a:solidFill>
            <a:srgbClr val="0B0B0B"/>
          </a:solidFill>
          <a:ln/>
        </p:spPr>
        <p:txBody>
          <a:bodyPr wrap="square" lIns="127000" tIns="177800" rIns="177800" bIns="1270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/events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Idempotency-Key: 0192f1a4-7c3e-…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eyJ…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202 Accepted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"eventId": "0192f1a4-…",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"ACCEPTED",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"statusUrl": "/events/0192f1a4-…"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/events/0192f1a4-…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"processingStatus": "INCIDENT_CREATED",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"incident": { "id": "INC-18493",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"priority": "P2"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6016752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6B3F"/>
                </a:solidFill>
              </a:rPr>
              <a:t>● </a:t>
            </a:r>
            <a:r>
              <a:rPr lang="en-US" sz="1200" dirty="0">
                <a:solidFill>
                  <a:srgbClr val="5C5B57"/>
                </a:solidFill>
              </a:rPr>
              <a:t>успех   </a:t>
            </a:r>
            <a:r>
              <a:rPr lang="en-US" sz="1200" dirty="0">
                <a:solidFill>
                  <a:srgbClr val="FF5B1F"/>
                </a:solidFill>
              </a:rPr>
              <a:t>● </a:t>
            </a:r>
            <a:r>
              <a:rPr lang="en-US" sz="1200" dirty="0">
                <a:solidFill>
                  <a:srgbClr val="5C5B57"/>
                </a:solidFill>
              </a:rPr>
              <a:t>повтор   </a:t>
            </a:r>
            <a:r>
              <a:rPr lang="en-US" sz="1200" dirty="0">
                <a:solidFill>
                  <a:srgbClr val="E31D2F"/>
                </a:solidFill>
              </a:rPr>
              <a:t>● </a:t>
            </a:r>
            <a:r>
              <a:rPr lang="en-US" sz="1200" dirty="0">
                <a:solidFill>
                  <a:srgbClr val="5C5B57"/>
                </a:solidFill>
              </a:rPr>
              <a:t>без повтора → DLQ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Схема данных: событие отвечает на шесть вопросов «Диво»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2029968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10 · СХЕМА ДАННЫХ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623560" cy="4800600"/>
          </a:xfrm>
          <a:prstGeom prst="rect">
            <a:avLst/>
          </a:prstGeom>
          <a:solidFill>
            <a:srgbClr val="0B0B0B"/>
          </a:solidFill>
          <a:ln/>
        </p:spPr>
        <p:txBody>
          <a:bodyPr wrap="square" lIns="127000" tIns="152400" rIns="152400" bIns="1270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"specVersion": "1.0",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"eventId": "0192f1a4-7c3e-7b21-…",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"eventType": "OPERATION_DELAYED",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"OPERATION",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"state": "FIRING",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"severity": "MAJOR",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"occurredAt": "2026-10-26T11:30:00+03:00",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"detectedAt": "2026-10-26T11:47:21+03:00",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"correlationKey":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"TREASURY_FX_MM_SETTLEMENT:OPERATION_DELAYED",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"source":  { "system": "DIASOFT_FA_TREASURY_BACK",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"module": "SETTLEMENT", "environment": "PROD"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"service": { "code": "TREASURY_FX_MM_SETTLEMENT",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"ciId": "CI-TB-SETTL-01"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"operation": { "id": "FX-2026-834724", "type": "FX_SWAP",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"valueDate": "2026-10-26", "amountClass": "LARGE"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"metrics": { "expectedDurationSec": 300,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"actualDurationSec": 1320, "deviationPct": 340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"sla": { "breached": false, "timeToBreachSec": 13359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"Превышено нормативное время расчёта…",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"details": { "errorCode": "TB-SETTL-WAIT-ACK", "runbookUrl": "…"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0" y="1463040"/>
            <a:ext cx="524225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0" y="1545336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Это новое событие?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847088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eventId, sequence</a:t>
            </a:r>
            <a:r>
              <a:rPr lang="en-US" sz="1100" dirty="0">
                <a:solidFill>
                  <a:srgbClr val="5C5B57"/>
                </a:solidFill>
              </a:rPr>
              <a:t>  →  идемпотентность, порядок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2272284"/>
            <a:ext cx="524225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235458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Что случилось и насколько плохо?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56332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eventType, state, severity, message</a:t>
            </a:r>
            <a:r>
              <a:rPr lang="en-US" sz="1100" dirty="0">
                <a:solidFill>
                  <a:srgbClr val="5C5B57"/>
                </a:solidFill>
              </a:rPr>
              <a:t>  →  правила, приоритет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081528"/>
            <a:ext cx="524225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83680" y="3163824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Когда?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465576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occurredAt, detectedAt</a:t>
            </a:r>
            <a:r>
              <a:rPr lang="en-US" sz="1100" dirty="0">
                <a:solidFill>
                  <a:srgbClr val="5C5B57"/>
                </a:solidFill>
              </a:rPr>
              <a:t>  →  SLA с момента сбоя, MTTD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3890772"/>
            <a:ext cx="524225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83680" y="3973068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Где и какую услугу задело?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27482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source, service.code, ciId</a:t>
            </a:r>
            <a:r>
              <a:rPr lang="en-US" sz="1100" dirty="0">
                <a:solidFill>
                  <a:srgbClr val="5C5B57"/>
                </a:solidFill>
              </a:rPr>
              <a:t>  →  КЕ в CMDB, группа назначения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4700016"/>
            <a:ext cx="524225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83680" y="4782312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Насколько сильно?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5084064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metrics, sla.timeToBreachSec</a:t>
            </a:r>
            <a:r>
              <a:rPr lang="en-US" sz="1100" dirty="0">
                <a:solidFill>
                  <a:srgbClr val="5C5B57"/>
                </a:solidFill>
              </a:rPr>
              <a:t>  →  приоритет, дашборды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5509260"/>
            <a:ext cx="524225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83680" y="5591556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Что делать?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893308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details.errorCode, runbookUrl</a:t>
            </a:r>
            <a:r>
              <a:rPr lang="en-US" sz="1100" dirty="0">
                <a:solidFill>
                  <a:srgbClr val="5C5B57"/>
                </a:solidFill>
              </a:rPr>
              <a:t>  →  диагностика 2-й линии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Почему именно эти поля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2029968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10 · СХЕМА ДАННЫХ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7086600" cy="91440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Поле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Польза для «Диво»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service.code + ciId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связка технического события с ИТ-услугой каталога — SLA считается по услуге, группа назначения — из КЕ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eventId (UUID v7)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повтор не создаёт второй инцидент; упорядочен по времени — удобен для индексов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 FIRING / RESOLVED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инцидент закрывается сам, длительность сбоя для отчёта точная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correlationKey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однотипные события — в одно оповещение, без «шторма» инцидентов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occurredAt / detectedAt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SLA с момента сбоя, а не обнаружения; разница — KPI самой интеграции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sla.timeToBreachSec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сколько осталось до нарушения — главный параметр приоритета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operation.valueDate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валютирование сегодня → выше приоритет (риск неисполнения)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details.runbookUrl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0B0B"/>
                          </a:solidFill>
                        </a:rPr>
                        <a:t>дежурный сразу открывает инструкцию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481328"/>
            <a:ext cx="3733495" cy="2514600"/>
          </a:xfrm>
          <a:prstGeom prst="roundRect">
            <a:avLst>
              <a:gd name="adj" fmla="val 2909"/>
            </a:avLst>
          </a:prstGeom>
          <a:solidFill>
            <a:srgbClr val="FFF4D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10728" y="1627632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</a:rPr>
              <a:t>Сознательно не передаём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10728" y="2011680"/>
            <a:ext cx="33677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</a:rPr>
              <a:t>Суммы сделок → класс amountClass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</a:rPr>
              <a:t>Счета и реквизиты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</a:rPr>
              <a:t>Контрагентов и ПДн (152-ФЗ)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</a:rPr>
              <a:t>Полные тексты SWIFT — только код и обезличенный текст ошибки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09560" y="4133088"/>
            <a:ext cx="373349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110728" y="4279392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0B0B"/>
                </a:solidFill>
              </a:rPr>
              <a:t>Строгая валидация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10728" y="4645152"/>
            <a:ext cx="3367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</a:rPr>
              <a:t>JSON Schema 2020-12, additionalProperties: false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</a:rPr>
              <a:t>operation обязателен для OPERATION, metrics — для задержек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0B0B"/>
                </a:solidFill>
              </a:rPr>
              <a:t>14 примеров проверяются скриптом validate.py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Экран мониторинга событий — для дежурной смены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929384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11 · UX И МАКЕТЫ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30352" y="1444752"/>
            <a:ext cx="5995942" cy="4837176"/>
          </a:xfrm>
          <a:prstGeom prst="roundRect">
            <a:avLst>
              <a:gd name="adj" fmla="val 75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</p:spPr>
      </p:sp>
      <p:pic>
        <p:nvPicPr>
          <p:cNvPr id="5" name="Image 0" descr="Экран мониторинга событий — для дежурной смен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959366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28046" y="146304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285246" y="1481328"/>
            <a:ext cx="4357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Статус интеграции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285246" y="1810512"/>
            <a:ext cx="435781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heartbeat, очередь и DLQ на виду: тишина — это норма, а не обрыв связи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28046" y="266319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285246" y="2681478"/>
            <a:ext cx="4357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SLA под угрозой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85246" y="3010662"/>
            <a:ext cx="435781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отдельный KPI и колонка «осталось 22 мин» — что спасать первым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28046" y="386334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285246" y="3881628"/>
            <a:ext cx="4357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Группировка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285246" y="4210812"/>
            <a:ext cx="435781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по correlationKey: один сбой — одна строка, а не 50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28046" y="506349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285246" y="5081778"/>
            <a:ext cx="4357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Автозакрытие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285246" y="5410962"/>
            <a:ext cx="435781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устранённые приглушены и закрыты по RESOLVED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Карточка события — что случилось и сколько осталось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929384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11 · UX И МАКЕТЫ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30352" y="1444752"/>
            <a:ext cx="5995942" cy="4837176"/>
          </a:xfrm>
          <a:prstGeom prst="roundRect">
            <a:avLst>
              <a:gd name="adj" fmla="val 75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</p:spPr>
      </p:sp>
      <p:pic>
        <p:nvPicPr>
          <p:cNvPr id="5" name="Image 0" descr="Карточка события — что случилось и сколько осталось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959366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28046" y="146304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285246" y="1481328"/>
            <a:ext cx="4357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Шкала до дедлайна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285246" y="1810512"/>
            <a:ext cx="435781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старт → норматив → сейчас → дедлайн SLA: запас времени виден сразу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28046" y="266319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285246" y="2681478"/>
            <a:ext cx="4357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Хронология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85246" y="3010662"/>
            <a:ext cx="435781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Diasoft, адаптер и «Диво» в одной ленте: эскалация WARNING → CRITICAL и создание инцидента за секунды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28046" y="386334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285246" y="3881628"/>
            <a:ext cx="4357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Всё для 2-й линии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285246" y="4210812"/>
            <a:ext cx="435781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КЕ, экземпляр, задание, eventId, исходный JSON, инструкция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28046" y="506349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285246" y="5081778"/>
            <a:ext cx="4357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Одно действие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285246" y="5410962"/>
            <a:ext cx="435781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инцидент уже создан — «Открыть инцидент»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Дашборд «Диво Мера» — для владельца услуги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929384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11 · UX И МАКЕТЫ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30352" y="1444752"/>
            <a:ext cx="8188538" cy="4837176"/>
          </a:xfrm>
          <a:prstGeom prst="roundRect">
            <a:avLst>
              <a:gd name="adj" fmla="val 75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</p:spPr>
      </p:sp>
      <p:pic>
        <p:nvPicPr>
          <p:cNvPr id="5" name="Image 0" descr="Дашборд «Диво Мера» — для владельца услуг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8151962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20642" y="146304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477842" y="1481328"/>
            <a:ext cx="21652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Эффект на виду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477842" y="1810512"/>
            <a:ext cx="216521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доступность против цели, % операций в нормативе, MTTD и MTTR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20642" y="266319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477842" y="2681478"/>
            <a:ext cx="21652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30 дней по услугам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477842" y="3010662"/>
            <a:ext cx="216521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полоса дней с инцидентами: какая услуга болеет систематически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20642" y="386334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477842" y="3881628"/>
            <a:ext cx="21652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Тренд событий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477842" y="4210812"/>
            <a:ext cx="216521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разбивка по критичности за 14 дней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020642" y="5063490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477842" y="5081778"/>
            <a:ext cx="21652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</a:rPr>
              <a:t>Причины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477842" y="5410962"/>
            <a:ext cx="216521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топ причин — основа решений о доработках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Виджет портала и UI Kit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929384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11 · UX И МАКЕТЫ</a:t>
            </a:r>
            <a:endParaRPr lang="en-US" sz="1000" dirty="0"/>
          </a:p>
        </p:txBody>
      </p:sp>
      <p:pic>
        <p:nvPicPr>
          <p:cNvPr id="4" name="Image 0" descr="Виджет «Диво Портала»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398655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94767" y="1444752"/>
            <a:ext cx="7366576" cy="3701576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</p:spPr>
      </p:sp>
      <p:pic>
        <p:nvPicPr>
          <p:cNvPr id="6" name="Image 1" descr="UI Kit: основы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055" y="1463040"/>
            <a:ext cx="7330000" cy="3665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13055" y="5356640"/>
            <a:ext cx="73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0B0B"/>
                </a:solidFill>
              </a:rPr>
              <a:t>UI Kit в Figma: 74 переменные, 11 стилей текста, 75 компонентов с вариантами. Устройство — как у генератора «ФОЛК», визуальный язык — как у отчёта о деградациях сервисов.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313055" y="6088160"/>
            <a:ext cx="73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B57"/>
                </a:solidFill>
              </a:rPr>
              <a:t>Виджет слева: «известная проблема» с номером инцидента и сроком — меньше звонков в поддержку во время сбоя.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Нефункциональные требования и безопасность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2633472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12 · НФТ И БЕЗОПАСНОСТЬ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73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0B0B"/>
                </a:solidFill>
              </a:rPr>
              <a:t>≤ 60 с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585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</a:rPr>
              <a:t>p95: от обнаружения до приёма в «Диво»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5087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63240" y="1673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0B0B"/>
                </a:solidFill>
              </a:rPr>
              <a:t>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2585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</a:rPr>
              <a:t>потерянных событий: outbox, повторы, DLQ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5087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94960" y="1673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0B0B"/>
                </a:solidFill>
              </a:rPr>
              <a:t>≥ 50 / с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2585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</a:rPr>
              <a:t>событий в пике закрытия дня, пакет до 500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273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0B0B"/>
                </a:solidFill>
              </a:rPr>
              <a:t>2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8587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</a:rPr>
              <a:t>экземпляра адаптера, active-standby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80360" y="31089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63240" y="3273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0B0B"/>
                </a:solidFill>
              </a:rPr>
              <a:t>60 с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8587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</a:rPr>
              <a:t>heartbeat; 3 пропуска → «нет данных»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31089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94960" y="32735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0B0B"/>
                </a:solidFill>
              </a:rPr>
              <a:t>7 дней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8587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</a:rPr>
              <a:t>хранение доставленных событий для разборов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46320"/>
            <a:ext cx="681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5B57"/>
                </a:solidFill>
              </a:rPr>
              <a:t>Сложность реализации: адаптер — обычный сервис (Java/Spring Boot или .NET 8 + PostgreSQL), без брокера и без доработок Diasoft.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80960" y="1508760"/>
            <a:ext cx="3962095" cy="452628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9525">
            <a:solidFill>
              <a:srgbClr val="E6E5E0"/>
            </a:solidFill>
            <a:prstDash val="solid"/>
          </a:ln>
          <a:effectLst>
            <a:outerShdw blurRad="76200" dist="25400" dir="5400000" algn="bl" rotWithShape="0">
              <a:srgbClr val="0F1B2D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909560" y="169164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0B0B"/>
                </a:solidFill>
              </a:rPr>
              <a:t>Безопасность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2148840"/>
            <a:ext cx="350489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</a:rPr>
              <a:t>mTLS по сертификату УЦ банка + OAuth2 client credentials с минимальными scope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</a:rPr>
              <a:t>Учётная запись Diasoft — только чтение нужных представлений реплики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</a:rPr>
              <a:t>Минимизация данных: без сумм, счетов, контрагентов и ПДн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</a:rPr>
              <a:t>Аудит всех вызовов в API Gateway, сквозной X-Request-Id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</a:rPr>
              <a:t>Секреты — в хранилище секретов банка, не в конфигурации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Ожидаемый эффект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13 · ЭФФЕКТ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Показатель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Сейчас (оценка)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После интеграции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5B57"/>
                          </a:solidFill>
                        </a:rPr>
                        <a:t>За счёт чего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Время обнаружения сбоя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15–40 мин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6B3F"/>
                          </a:solidFill>
                        </a:rPr>
                        <a:t>≤ 2 мин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опрос 30 с + push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Инциденты, созданные автоматически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≈ 0 %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6B3F"/>
                          </a:solidFill>
                        </a:rPr>
                        <a:t>≥ 80 %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правила событие → инцидент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Время восстановления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6B3F"/>
                          </a:solidFill>
                        </a:rPr>
                        <a:t>−20–30 %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в инциденте сразу операция, КЕ, ошибка, инструкция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Полнота SLA-отчёта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только сбои, о которых сообщили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6B3F"/>
                          </a:solidFill>
                        </a:rPr>
                        <a:t>100 % сбоев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пара FIRING / RESOLVED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Звонки в поддержку при известном сбое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каждый пострадавший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6B3F"/>
                          </a:solidFill>
                        </a:rPr>
                        <a:t>−50 %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виджет на «Диво Портале»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</a:rPr>
                        <a:t>Ручная регистрация дежурным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5–10 мин на инцидент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36B3F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5B57"/>
                          </a:solidFill>
                        </a:rPr>
                        <a:t>автоматическое создание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3545738" cy="868680"/>
          </a:xfrm>
          <a:prstGeom prst="roundRect">
            <a:avLst>
              <a:gd name="adj" fmla="val 8421"/>
            </a:avLst>
          </a:prstGeom>
          <a:solidFill>
            <a:srgbClr val="F4F4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5422392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Меньше финансовых рисков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696712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0B0B"/>
                </a:solidFill>
              </a:rPr>
              <a:t>расчёт успевают исправить до cut-off — нет неисполненных обязательств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2978" y="5349240"/>
            <a:ext cx="3545738" cy="868680"/>
          </a:xfrm>
          <a:prstGeom prst="roundRect">
            <a:avLst>
              <a:gd name="adj" fmla="val 8421"/>
            </a:avLst>
          </a:prstGeom>
          <a:solidFill>
            <a:srgbClr val="F4F4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05858" y="5422392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Данные для улучшений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05858" y="5696712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0B0B"/>
                </a:solidFill>
              </a:rPr>
              <a:t>статистика причин показывает, какие узлы дорабатывать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97317" y="5349240"/>
            <a:ext cx="3545738" cy="868680"/>
          </a:xfrm>
          <a:prstGeom prst="roundRect">
            <a:avLst>
              <a:gd name="adj" fmla="val 8421"/>
            </a:avLst>
          </a:prstGeom>
          <a:solidFill>
            <a:srgbClr val="F4F4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80197" y="5422392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0B0B"/>
                </a:solidFill>
              </a:rPr>
              <a:t>Тиражируемость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80197" y="5696712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0B0B"/>
                </a:solidFill>
              </a:rPr>
              <a:t>адаптер и контракт подходят для других бэк-офисных систем банка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B0B"/>
                </a:solidFill>
              </a:rPr>
              <a:t>План внедрения: от MVP до тиражирования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728216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0B0B"/>
                </a:solidFill>
              </a:rPr>
              <a:t>14 · ВНЕДРЕНИЕ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10637215" cy="0"/>
          </a:xfrm>
          <a:prstGeom prst="line">
            <a:avLst/>
          </a:prstGeom>
          <a:noFill/>
          <a:ln w="254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27632"/>
            <a:ext cx="420624" cy="420624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0B0B"/>
                </a:solidFill>
              </a:rPr>
              <a:t>Согласование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5B57"/>
                </a:solidFill>
              </a:rPr>
              <a:t>2 нед.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19811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0B0B"/>
                </a:solidFill>
              </a:rPr>
              <a:t>каталог событий, нормативы, услуги и КЕ в CMDB, доступ к реплике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04099" y="1627632"/>
            <a:ext cx="420624" cy="420624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04099" y="224028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0B0B"/>
                </a:solidFill>
              </a:rPr>
              <a:t>MVP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04099" y="26517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5B57"/>
                </a:solidFill>
              </a:rPr>
              <a:t>4–6 нед.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804099" y="3063240"/>
            <a:ext cx="19811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0B0B"/>
                </a:solidFill>
              </a:rPr>
              <a:t>4 ключевых события, /events и /heartbeat, экран мониторинга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59558" y="1627632"/>
            <a:ext cx="420624" cy="420624"/>
          </a:xfrm>
          <a:prstGeom prst="ellipse">
            <a:avLst/>
          </a:prstGeom>
          <a:solidFill>
            <a:srgbClr val="FF5B1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59558" y="224028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0B0B"/>
                </a:solidFill>
              </a:rPr>
              <a:t>Теневой пилот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59558" y="26517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5B57"/>
                </a:solidFill>
              </a:rPr>
              <a:t>4 нед.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59558" y="3063240"/>
            <a:ext cx="19811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0B0B"/>
                </a:solidFill>
              </a:rPr>
              <a:t>события идут в «Диво» без инцидентов; калибровка порогов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017" y="1627632"/>
            <a:ext cx="420624" cy="420624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017" y="224028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0B0B"/>
                </a:solidFill>
              </a:rPr>
              <a:t>Эксплуатация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017" y="26517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5B57"/>
                </a:solidFill>
              </a:rPr>
              <a:t>2 нед.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017" y="3063240"/>
            <a:ext cx="19811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0B0B"/>
                </a:solidFill>
              </a:rPr>
              <a:t>автоинциденты, SLA-таймеры, карточка события, виджет портала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70476" y="1627632"/>
            <a:ext cx="420624" cy="420624"/>
          </a:xfrm>
          <a:prstGeom prst="ellipse">
            <a:avLst/>
          </a:prstGeom>
          <a:solidFill>
            <a:srgbClr val="0B0B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70476" y="2240280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0B0B"/>
                </a:solidFill>
              </a:rPr>
              <a:t>Развитие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70476" y="265176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4F4F2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5B57"/>
                </a:solidFill>
              </a:rPr>
              <a:t>далее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570476" y="3063240"/>
            <a:ext cx="19811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0B0B"/>
                </a:solidFill>
              </a:rPr>
              <a:t>/metrics и «Мера», остальные события, другие системы, брокер при росте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94415" cy="1325880"/>
          </a:xfrm>
          <a:prstGeom prst="roundRect">
            <a:avLst>
              <a:gd name="adj" fmla="val 5517"/>
            </a:avLst>
          </a:prstGeom>
          <a:solidFill>
            <a:srgbClr val="FFEAD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5B1F"/>
                </a:solidFill>
              </a:rPr>
              <a:t>Почему теневой пилот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0292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0B0B"/>
                </a:solidFill>
              </a:rPr>
              <a:t>Главный риск мониторинга — «шторм» ложных инцидентов из-за неверных порогов. Месяц событий без создания инцидентов позволяет откалибровать нормативы на реальных данных и сверить их с ручными обращениями.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Итог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5819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Концепция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920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CCD2"/>
                </a:solidFill>
              </a:rPr>
              <a:t>гибрид: push событий, метрики по расписанию, heartbeat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16002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5819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Архитектура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920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CCD2"/>
                </a:solidFill>
              </a:rPr>
              <a:t>адаптер с outbox, повторами, DLQ; Diasoft без доработок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791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API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CCD2"/>
                </a:solidFill>
              </a:rPr>
              <a:t>5 endpoints, OpenAPI 3.1, идемпотентность, коды ответов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26974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6791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Данные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CCD2"/>
                </a:solidFill>
              </a:rPr>
              <a:t>JSON Schema, 6 вопросов «Диво», минимизация данных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7764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UX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CCD2"/>
                </a:solidFill>
              </a:rPr>
              <a:t>мониторинг, карточка события, дашборд «Мера», виджет портала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37947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B0B"/>
                </a:solidFill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7764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Эффект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CCD2"/>
                </a:solidFill>
              </a:rPr>
              <a:t>обнаружение ≤ 2 мин, ≥ 80 % автоинцидентов, полный SLA-отчёт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94415" cy="0"/>
          </a:xfrm>
          <a:prstGeom prst="line">
            <a:avLst/>
          </a:prstGeom>
          <a:noFill/>
          <a:ln w="12700">
            <a:solidFill>
              <a:srgbClr val="3A3A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212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CD2"/>
                </a:solidFill>
              </a:rPr>
              <a:t>Репозиторий: </a:t>
            </a:r>
            <a:r>
              <a:rPr lang="en-US" sz="1400" b="1" dirty="0">
                <a:solidFill>
                  <a:srgbClr val="FFFFFF"/>
                </a:solidFill>
              </a:rPr>
              <a:t>github.com/&lt;пользователь&gt;/&lt;репозиторий&gt;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CCD2"/>
                </a:solidFill>
              </a:rPr>
              <a:t>Макеты Figma: </a:t>
            </a:r>
            <a:r>
              <a:rPr lang="en-US" sz="1400" b="1" dirty="0">
                <a:solidFill>
                  <a:srgbClr val="FFFFFF"/>
                </a:solidFill>
              </a:rPr>
              <a:t>ссылка на файл Figma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28255" y="5212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</a:rPr>
              <a:t>ФИО участника · вуз · курс</a:t>
            </a:r>
            <a:endParaRPr lang="en-US" sz="1400" dirty="0"/>
          </a:p>
        </p:txBody>
      </p:sp>
      <p:sp>
        <p:nvSpPr>
          <p:cNvPr id="2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3832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soft Divo">
  <a:themeElements>
    <a:clrScheme name="Diasoft Divo">
      <a:dk1>
        <a:srgbClr val="0B0B0B"/>
      </a:dk1>
      <a:lt1>
        <a:srgbClr val="FFFFFF"/>
      </a:lt1>
      <a:dk2>
        <a:srgbClr val="0B0B0B"/>
      </a:dk2>
      <a:lt2>
        <a:srgbClr val="F4F4F2"/>
      </a:lt2>
      <a:accent1>
        <a:srgbClr val="0B0B0B"/>
      </a:accent1>
      <a:accent2>
        <a:srgbClr val="FF5B1F"/>
      </a:accent2>
      <a:accent3>
        <a:srgbClr val="E31D2F"/>
      </a:accent3>
      <a:accent4>
        <a:srgbClr val="8A6414"/>
      </a:accent4>
      <a:accent5>
        <a:srgbClr val="2B73FE"/>
      </a:accent5>
      <a:accent6>
        <a:srgbClr val="236B3F"/>
      </a:accent6>
      <a:hlink>
        <a:srgbClr val="0B0B0B"/>
      </a:hlink>
      <a:folHlink>
        <a:srgbClr val="1F1F1E"/>
      </a:folHlink>
    </a:clrScheme>
    <a:fontScheme name="Diasoft Div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3240</Words>
  <Application>Microsoft Office PowerPoint</Application>
  <PresentationFormat>Широкоэкранный</PresentationFormat>
  <Paragraphs>699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6" baseType="lpstr">
      <vt:lpstr>Arial</vt:lpstr>
      <vt:lpstr>Courier New</vt:lpstr>
      <vt:lpstr>Diasoft Divo</vt:lpstr>
      <vt:lpstr>Интеграция Diasoft FA# Treasury.Back и ESM-платформы «Диво»</vt:lpstr>
      <vt:lpstr>Сегодня о сбоях в казначействе ИТ узнаёт от пользователей</vt:lpstr>
      <vt:lpstr>Решение: адаптер сам сообщает «Диво» о проблемах</vt:lpstr>
      <vt:lpstr>Пять ролей получают пользу от интеграции</vt:lpstr>
      <vt:lpstr>Где в работе бэк-офиса возникают сбои и что полезно «Диво»</vt:lpstr>
      <vt:lpstr>Что передаём: 11 типов событий, привязанных к ИТ-услугам</vt:lpstr>
      <vt:lpstr>Как передаём: push от адаптера, гибрид режимов</vt:lpstr>
      <vt:lpstr>Схема интеграции: четыре зоны ответственности</vt:lpstr>
      <vt:lpstr>Sequence diagram: от задержки расчёта до инцидента</vt:lpstr>
      <vt:lpstr>Обработка ошибок: ни одно событие не теряется</vt:lpstr>
      <vt:lpstr>Событие ≠ инцидент: правила «Диво» и расчёт severity</vt:lpstr>
      <vt:lpstr>REST API: 5 endpoints, спецификация OpenAPI 3.1</vt:lpstr>
      <vt:lpstr>Коды ответов и реакция адаптера</vt:lpstr>
      <vt:lpstr>Схема данных: событие отвечает на шесть вопросов «Диво»</vt:lpstr>
      <vt:lpstr>Почему именно эти поля</vt:lpstr>
      <vt:lpstr>Экран мониторинга событий — для дежурной смены</vt:lpstr>
      <vt:lpstr>Карточка события — что случилось и сколько осталось</vt:lpstr>
      <vt:lpstr>Дашборд «Диво Мера» — для владельца услуги</vt:lpstr>
      <vt:lpstr>Виджет портала и UI Kit</vt:lpstr>
      <vt:lpstr>Нефункциональные требования и безопасность</vt:lpstr>
      <vt:lpstr>Ожидаемый эффект</vt:lpstr>
      <vt:lpstr>План внедрения: от MVP до тиражирования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Интеграция Diasoft FA# Treasury.Back и ESM-платформы «Диво»</dc:title>
  <dc:subject>Кейс «Свои Финансы», задача 2</dc:subject>
  <dc:creator>Участник стипендиальной программы РСХБ.Цифра</dc:creator>
  <cp:lastModifiedBy>Михаил</cp:lastModifiedBy>
  <cp:revision>2</cp:revision>
  <dcterms:created xsi:type="dcterms:W3CDTF">2026-10-26T12:35:27Z</dcterms:created>
  <dcterms:modified xsi:type="dcterms:W3CDTF">2026-10-26T12:39:46Z</dcterms:modified>
</cp:coreProperties>
</file>