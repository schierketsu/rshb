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Задача" id="{f389681f-c419-e299-833c-fd66ac59677b}">
          <p14:sldIdLst>
            <p14:sldId id="256"/>
            <p14:sldId id="257"/>
            <p14:sldId id="258"/>
            <p14:sldId id="259"/>
          </p14:sldIdLst>
        </p14:section>
        <p14:section name="Решение" id="{58f281ca-271b-92c4-f92c-9497e2083615}">
          <p14:sldIdLst>
            <p14:sldId id="260"/>
            <p14:sldId id="261"/>
            <p14:sldId id="262"/>
            <p14:sldId id="263"/>
            <p14:sldId id="264"/>
          </p14:sldIdLst>
        </p14:section>
        <p14:section name="API и данные" id="{8919f5e1-a7ad-ff13-c47f-0b6d29966c2e}">
          <p14:sldIdLst>
            <p14:sldId id="265"/>
            <p14:sldId id="266"/>
          </p14:sldIdLst>
        </p14:section>
        <p14:section name="UX" id="{d83cee4e-a8e0-3a6b-8aba-023ba96d2840}">
          <p14:sldIdLst>
            <p14:sldId id="267"/>
            <p14:sldId id="268"/>
            <p14:sldId id="269"/>
          </p14:sldIdLst>
        </p14:section>
        <p14:section name="Эффект" id="{39094b80-3326-39b1-52a5-b1c106847ce6}">
          <p14:sldIdLst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106070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8778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CCD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B0B0B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984"/>
                </a:solidFill>
              </a:rPr>
              <a:t>Diasoft FA# Treasury.Back ↔ «Диво» · РСХБ.Цифра 2026–2027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9CCD2"/>
                </a:solidFill>
              </a:rPr>
              <a:t>РСХБ.Цифра · ИТ-кейс «Свои Финансы», задача 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46304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Интеграция Diasoft FA# Treasury.Back и ESM-платформы «Диво»</a:t>
            </a:r>
            <a:endParaRPr lang="en-US" sz="3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38328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CCD2"/>
                </a:solidFill>
              </a:rPr>
              <a:t>Сбои казначейского бэк-офиса сами попадают в «Диво»: событие, инцидент, SLA, дашборд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709160"/>
            <a:ext cx="2112264" cy="457200"/>
          </a:xfrm>
          <a:prstGeom prst="roundRect">
            <a:avLst>
              <a:gd name="adj" fmla="val 16000"/>
            </a:avLst>
          </a:prstGeom>
          <a:solidFill>
            <a:srgbClr val="1F1F1E"/>
          </a:solidFill>
          <a:ln w="9525">
            <a:solidFill>
              <a:srgbClr val="3A3A3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Операция в Diasoft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34056" y="4937760"/>
            <a:ext cx="310896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118104" y="4709160"/>
            <a:ext cx="1056132" cy="457200"/>
          </a:xfrm>
          <a:prstGeom prst="roundRect">
            <a:avLst>
              <a:gd name="adj" fmla="val 16000"/>
            </a:avLst>
          </a:prstGeom>
          <a:solidFill>
            <a:srgbClr val="1F1F1E"/>
          </a:solidFill>
          <a:ln w="9525">
            <a:solidFill>
              <a:srgbClr val="3A3A3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Событие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47388" y="4937760"/>
            <a:ext cx="310896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631436" y="4709160"/>
            <a:ext cx="1152144" cy="457200"/>
          </a:xfrm>
          <a:prstGeom prst="roundRect">
            <a:avLst>
              <a:gd name="adj" fmla="val 16000"/>
            </a:avLst>
          </a:prstGeom>
          <a:solidFill>
            <a:srgbClr val="1F1F1E"/>
          </a:solidFill>
          <a:ln w="9525">
            <a:solidFill>
              <a:srgbClr val="3A3A3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Инцидент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856732" y="4937760"/>
            <a:ext cx="310896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6240780" y="4709160"/>
            <a:ext cx="672084" cy="457200"/>
          </a:xfrm>
          <a:prstGeom prst="roundRect">
            <a:avLst>
              <a:gd name="adj" fmla="val 16000"/>
            </a:avLst>
          </a:prstGeom>
          <a:solidFill>
            <a:srgbClr val="1F1F1E"/>
          </a:solidFill>
          <a:ln w="9525">
            <a:solidFill>
              <a:srgbClr val="3A3A3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SLA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986016" y="4937760"/>
            <a:ext cx="310896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7370064" y="4709160"/>
            <a:ext cx="1056132" cy="457200"/>
          </a:xfrm>
          <a:prstGeom prst="roundRect">
            <a:avLst>
              <a:gd name="adj" fmla="val 16000"/>
            </a:avLst>
          </a:prstGeom>
          <a:solidFill>
            <a:srgbClr val="1F1F1E"/>
          </a:solidFill>
          <a:ln w="9525">
            <a:solidFill>
              <a:srgbClr val="3A3A3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Дашборд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ФИО участника · вуз · курс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899855" y="5989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C9CCD2"/>
                </a:solidFill>
              </a:rPr>
              <a:t>Октябрь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0B0B"/>
                </a:solidFill>
              </a:rPr>
              <a:t>О сбоях в казначействе ИТ узнаёт от пользователей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310896"/>
            <a:ext cx="1627632" cy="274320"/>
          </a:xfrm>
          <a:prstGeom prst="roundRect">
            <a:avLst>
              <a:gd name="adj" fmla="val 20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B0B0B"/>
                </a:solidFill>
              </a:rPr>
              <a:t>01 · ПРОБЛЕМА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E31D2F"/>
                </a:solidFill>
              </a:rPr>
              <a:t>15–40 мин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8803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0B0B0B"/>
                </a:solidFill>
              </a:rPr>
              <a:t>проходит от сбоя до начала работы над ним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56616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5B57"/>
                </a:solidFill>
              </a:rPr>
              <a:t>Сотрудник бэк-офиса замечает, что платёж не ушёл, звонит в поддержку, дежурный регистрирует инцидент вручную, 2-я линия выясняет детали.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989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984"/>
                </a:solidFill>
              </a:rPr>
              <a:t>Оценка типичной ручной схемы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1783080"/>
            <a:ext cx="4967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</a:rPr>
              <a:t>SLA не контролируется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2240280"/>
            <a:ext cx="4967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5B57"/>
                </a:solidFill>
              </a:rPr>
              <a:t>нет точного начала и конца сбоя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675120" y="2898648"/>
            <a:ext cx="4967935" cy="0"/>
          </a:xfrm>
          <a:prstGeom prst="line">
            <a:avLst/>
          </a:prstGeom>
          <a:noFill/>
          <a:ln w="12700">
            <a:solidFill>
              <a:srgbClr val="E6E5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75120" y="3154680"/>
            <a:ext cx="4967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</a:rPr>
              <a:t>Риск срыва расчётов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675120" y="3611880"/>
            <a:ext cx="4967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5B57"/>
                </a:solidFill>
              </a:rPr>
              <a:t>время уходит до cut-off платёжной системы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675120" y="4270248"/>
            <a:ext cx="4967935" cy="0"/>
          </a:xfrm>
          <a:prstGeom prst="line">
            <a:avLst/>
          </a:prstGeom>
          <a:noFill/>
          <a:ln w="12700">
            <a:solidFill>
              <a:srgbClr val="E6E5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75120" y="4526280"/>
            <a:ext cx="4967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</a:rPr>
              <a:t>Неполная отчётность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4983480"/>
            <a:ext cx="4967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5B57"/>
                </a:solidFill>
              </a:rPr>
              <a:t>короткие сбои не попадают в статистику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0B0B"/>
                </a:solidFill>
              </a:rPr>
              <a:t>Решение: адаптер сам сообщает «Диво» о проблемах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310896"/>
            <a:ext cx="1527048" cy="274320"/>
          </a:xfrm>
          <a:prstGeom prst="roundRect">
            <a:avLst>
              <a:gd name="adj" fmla="val 20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B0B0B"/>
                </a:solidFill>
              </a:rPr>
              <a:t>02 · РЕШЕНИЕ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2148840" cy="914400"/>
          </a:xfrm>
          <a:prstGeom prst="roundRect">
            <a:avLst>
              <a:gd name="adj" fmla="val 10000"/>
            </a:avLst>
          </a:prstGeom>
          <a:solidFill>
            <a:srgbClr val="F4F4F2"/>
          </a:solidFill>
          <a:ln w="15875">
            <a:solidFill>
              <a:srgbClr val="5C5B5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</a:rPr>
              <a:t>Diasoft FA#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</a:rPr>
              <a:t>Treasury.Back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3347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5B57"/>
                </a:solidFill>
              </a:rPr>
              <a:t>без доработок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88920" y="2057400"/>
            <a:ext cx="650138" cy="0"/>
          </a:xfrm>
          <a:prstGeom prst="line">
            <a:avLst/>
          </a:prstGeom>
          <a:noFill/>
          <a:ln w="25400">
            <a:solidFill>
              <a:srgbClr val="0B0B0B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530498" y="1600200"/>
            <a:ext cx="21488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0B0B0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</a:rPr>
              <a:t>Integration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</a:rPr>
              <a:t>Adapter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530498" y="263347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5B57"/>
                </a:solidFill>
              </a:rPr>
              <a:t>находит проблему,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C5B57"/>
                </a:solidFill>
              </a:rPr>
              <a:t>гарантирует доставку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770778" y="2057400"/>
            <a:ext cx="650138" cy="0"/>
          </a:xfrm>
          <a:prstGeom prst="line">
            <a:avLst/>
          </a:prstGeom>
          <a:noFill/>
          <a:ln w="25400">
            <a:solidFill>
              <a:srgbClr val="0B0B0B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6512357" y="1600200"/>
            <a:ext cx="2148840" cy="914400"/>
          </a:xfrm>
          <a:prstGeom prst="roundRect">
            <a:avLst>
              <a:gd name="adj" fmla="val 10000"/>
            </a:avLst>
          </a:prstGeom>
          <a:solidFill>
            <a:srgbClr val="F4F4F2"/>
          </a:solidFill>
          <a:ln w="15875">
            <a:solidFill>
              <a:srgbClr val="5C5B5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</a:rPr>
              <a:t>API Gateway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</a:rPr>
              <a:t>банка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512357" y="263347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5B57"/>
                </a:solidFill>
              </a:rPr>
              <a:t>mTLS · OAuth2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752637" y="2057400"/>
            <a:ext cx="650138" cy="0"/>
          </a:xfrm>
          <a:prstGeom prst="line">
            <a:avLst/>
          </a:prstGeom>
          <a:noFill/>
          <a:ln w="25400">
            <a:solidFill>
              <a:srgbClr val="0B0B0B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494215" y="1600200"/>
            <a:ext cx="2148840" cy="914400"/>
          </a:xfrm>
          <a:prstGeom prst="roundRect">
            <a:avLst>
              <a:gd name="adj" fmla="val 10000"/>
            </a:avLst>
          </a:prstGeom>
          <a:solidFill>
            <a:srgbClr val="E7EEFF"/>
          </a:solidFill>
          <a:ln w="15875">
            <a:solidFill>
              <a:srgbClr val="2B73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</a:rPr>
              <a:t>ESM-платформа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</a:rPr>
              <a:t>«Диво»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494215" y="263347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5B57"/>
                </a:solidFill>
              </a:rPr>
              <a:t>инцидент · SLA · дашборд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703320"/>
            <a:ext cx="2567864" cy="2011680"/>
          </a:xfrm>
          <a:prstGeom prst="roundRect">
            <a:avLst>
              <a:gd name="adj" fmla="val 3636"/>
            </a:avLst>
          </a:prstGeom>
          <a:solidFill>
            <a:srgbClr val="F4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3977640"/>
            <a:ext cx="2019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B0B0B"/>
                </a:solidFill>
              </a:rPr>
              <a:t>≤ 2 мин</a:t>
            </a:r>
            <a:endParaRPr lang="en-US" sz="38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892040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5B57"/>
                </a:solidFill>
              </a:rPr>
              <a:t>обнаружение сбоя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3390824" y="3703320"/>
            <a:ext cx="2567864" cy="2011680"/>
          </a:xfrm>
          <a:prstGeom prst="roundRect">
            <a:avLst>
              <a:gd name="adj" fmla="val 3636"/>
            </a:avLst>
          </a:prstGeom>
          <a:solidFill>
            <a:srgbClr val="F4F4F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665144" y="3977640"/>
            <a:ext cx="2019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B0B0B"/>
                </a:solidFill>
              </a:rPr>
              <a:t>≥ 80 %</a:t>
            </a:r>
            <a:endParaRPr lang="en-US" sz="3800" dirty="0"/>
          </a:p>
        </p:txBody>
      </p:sp>
      <p:sp>
        <p:nvSpPr>
          <p:cNvPr id="20" name="Text 18"/>
          <p:cNvSpPr txBox="1"/>
          <p:nvPr/>
        </p:nvSpPr>
        <p:spPr>
          <a:xfrm>
            <a:off x="3665144" y="4892040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5B57"/>
                </a:solidFill>
              </a:rPr>
              <a:t>инцидентов создаются сами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233008" y="3703320"/>
            <a:ext cx="2567864" cy="2011680"/>
          </a:xfrm>
          <a:prstGeom prst="roundRect">
            <a:avLst>
              <a:gd name="adj" fmla="val 3636"/>
            </a:avLst>
          </a:prstGeom>
          <a:solidFill>
            <a:srgbClr val="F4F4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07328" y="3977640"/>
            <a:ext cx="2019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B0B0B"/>
                </a:solidFill>
              </a:rPr>
              <a:t>100 %</a:t>
            </a:r>
            <a:endParaRPr lang="en-US" sz="3800" dirty="0"/>
          </a:p>
        </p:txBody>
      </p:sp>
      <p:sp>
        <p:nvSpPr>
          <p:cNvPr id="23" name="Text 21"/>
          <p:cNvSpPr txBox="1"/>
          <p:nvPr/>
        </p:nvSpPr>
        <p:spPr>
          <a:xfrm>
            <a:off x="6507328" y="4892040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5B57"/>
                </a:solidFill>
              </a:rPr>
              <a:t>сбоев в SLA-отчёте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9075191" y="3703320"/>
            <a:ext cx="2567864" cy="2011680"/>
          </a:xfrm>
          <a:prstGeom prst="roundRect">
            <a:avLst>
              <a:gd name="adj" fmla="val 3636"/>
            </a:avLst>
          </a:prstGeom>
          <a:solidFill>
            <a:srgbClr val="F4F4F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349511" y="3977640"/>
            <a:ext cx="2019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B0B0B"/>
                </a:solidFill>
              </a:rPr>
              <a:t>0</a:t>
            </a:r>
            <a:endParaRPr lang="en-US" sz="3800" dirty="0"/>
          </a:p>
        </p:txBody>
      </p:sp>
      <p:sp>
        <p:nvSpPr>
          <p:cNvPr id="26" name="Text 24"/>
          <p:cNvSpPr txBox="1"/>
          <p:nvPr/>
        </p:nvSpPr>
        <p:spPr>
          <a:xfrm>
            <a:off x="9349511" y="4892040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5B57"/>
                </a:solidFill>
              </a:rPr>
              <a:t>доработок Diasoft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0B0B"/>
                </a:solidFill>
              </a:rPr>
              <a:t>Кому это нужно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310896"/>
            <a:ext cx="2532888" cy="274320"/>
          </a:xfrm>
          <a:prstGeom prst="roundRect">
            <a:avLst>
              <a:gd name="adj" fmla="val 20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B0B0B"/>
                </a:solidFill>
              </a:rPr>
              <a:t>03 · ЦЕЛЕВАЯ АУДИТОРИЯ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548640" cy="548640"/>
          </a:xfrm>
          <a:prstGeom prst="ellipse">
            <a:avLst/>
          </a:prstGeom>
          <a:solidFill>
            <a:srgbClr val="0B0B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60320"/>
            <a:ext cx="2476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</a:rPr>
              <a:t>Дежурная смена ИТ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383280"/>
            <a:ext cx="2476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5B57"/>
                </a:solidFill>
              </a:rPr>
              <a:t>видит сбой раньше пользователя — инцидент уже создан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390824" y="1737360"/>
            <a:ext cx="548640" cy="548640"/>
          </a:xfrm>
          <a:prstGeom prst="ellipse">
            <a:avLst/>
          </a:prstGeom>
          <a:solidFill>
            <a:srgbClr val="0B0B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390824" y="2560320"/>
            <a:ext cx="2476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</a:rPr>
              <a:t>Сопровождение Diasoft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390824" y="3383280"/>
            <a:ext cx="2476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5B57"/>
                </a:solidFill>
              </a:rPr>
              <a:t>получает операцию, код ошибки и инструкцию сразу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233008" y="1737360"/>
            <a:ext cx="548640" cy="548640"/>
          </a:xfrm>
          <a:prstGeom prst="ellipse">
            <a:avLst/>
          </a:prstGeom>
          <a:solidFill>
            <a:srgbClr val="0B0B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233008" y="2560320"/>
            <a:ext cx="2476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</a:rPr>
              <a:t>Владелец ИТ-услуги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233008" y="3383280"/>
            <a:ext cx="2476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5B57"/>
                </a:solidFill>
              </a:rPr>
              <a:t>видит честную доступность и выполнение SLA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075191" y="1737360"/>
            <a:ext cx="548640" cy="548640"/>
          </a:xfrm>
          <a:prstGeom prst="ellipse">
            <a:avLst/>
          </a:prstGeom>
          <a:solidFill>
            <a:srgbClr val="0B0B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9075191" y="2560320"/>
            <a:ext cx="2476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</a:rPr>
              <a:t>Бэк-офис казначейства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9075191" y="3383280"/>
            <a:ext cx="2476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5B57"/>
                </a:solidFill>
              </a:rPr>
              <a:t>знает, что о сбое уже известно, — не звонит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5120640"/>
            <a:ext cx="11094415" cy="822960"/>
          </a:xfrm>
          <a:prstGeom prst="roundRect">
            <a:avLst>
              <a:gd name="adj" fmla="val 8889"/>
            </a:avLst>
          </a:prstGeom>
          <a:solidFill>
            <a:srgbClr val="F4F4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12064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</a:rPr>
              <a:t>Плюс руководство ИТ и казначейства: состояние критичных услуг и риск срыва расчётов — на одном дашборде.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0B0B"/>
                </a:solidFill>
              </a:rPr>
              <a:t>Что передаём: события о проблемах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310896"/>
            <a:ext cx="1728216" cy="274320"/>
          </a:xfrm>
          <a:prstGeom prst="roundRect">
            <a:avLst>
              <a:gd name="adj" fmla="val 20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B0B0B"/>
                </a:solidFill>
              </a:rPr>
              <a:t>04 · КОНЦЕПЦИЯ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15258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E6E5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</a:rPr>
              <a:t>Операции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12848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задержка, ошибка, отказ в расчёте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2966618" cy="365760"/>
          </a:xfrm>
          <a:prstGeom prst="roundRect">
            <a:avLst>
              <a:gd name="adj" fmla="val 15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OPERATION_DELAYED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3154680"/>
            <a:ext cx="2966618" cy="365760"/>
          </a:xfrm>
          <a:prstGeom prst="roundRect">
            <a:avLst>
              <a:gd name="adj" fmla="val 15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OPERATION_FAILED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611880"/>
            <a:ext cx="2966618" cy="365760"/>
          </a:xfrm>
          <a:prstGeom prst="roundRect">
            <a:avLst>
              <a:gd name="adj" fmla="val 15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SETTLEMENT_REJECTED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38218" y="1600200"/>
            <a:ext cx="3515258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E6E5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2538" y="178308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</a:rPr>
              <a:t>Процессы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612538" y="2212848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закрытие дня, курсы, очередь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12538" y="2697480"/>
            <a:ext cx="2966618" cy="365760"/>
          </a:xfrm>
          <a:prstGeom prst="roundRect">
            <a:avLst>
              <a:gd name="adj" fmla="val 15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EOD_CLOSE_DELAYED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12538" y="3154680"/>
            <a:ext cx="2966618" cy="365760"/>
          </a:xfrm>
          <a:prstGeom prst="roundRect">
            <a:avLst>
              <a:gd name="adj" fmla="val 15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MARKET_DATA_STALE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12538" y="3611880"/>
            <a:ext cx="2966618" cy="365760"/>
          </a:xfrm>
          <a:prstGeom prst="roundRect">
            <a:avLst>
              <a:gd name="adj" fmla="val 15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PROCESSING_BACKLOG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600200"/>
            <a:ext cx="3515258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E6E5E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02117" y="178308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</a:rPr>
              <a:t>Система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402117" y="2212848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недоступность, шлюзы, задания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402117" y="2697480"/>
            <a:ext cx="2966618" cy="365760"/>
          </a:xfrm>
          <a:prstGeom prst="roundRect">
            <a:avLst>
              <a:gd name="adj" fmla="val 15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SYSTEM_UNAVAILABLE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402117" y="3154680"/>
            <a:ext cx="2966618" cy="365760"/>
          </a:xfrm>
          <a:prstGeom prst="roundRect">
            <a:avLst>
              <a:gd name="adj" fmla="val 15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EXTERNAL_GATEWAY_ERROR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02117" y="3611880"/>
            <a:ext cx="2966618" cy="365760"/>
          </a:xfrm>
          <a:prstGeom prst="roundRect">
            <a:avLst>
              <a:gd name="adj" fmla="val 15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BATCH_JOB_FAILED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526280"/>
            <a:ext cx="3515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0B0B"/>
                </a:solidFill>
              </a:rPr>
              <a:t>Событие ≠ инцидент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937760"/>
            <a:ext cx="3515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«Диво» группирует похожие события и создаёт инцидент по порогу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338218" y="4526280"/>
            <a:ext cx="3515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0B0B"/>
                </a:solidFill>
              </a:rPr>
              <a:t>FIRING / RESOLVED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4338218" y="4937760"/>
            <a:ext cx="3515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проблема ушла — инцидент закрывается сам, SLA считается точно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127797" y="4526280"/>
            <a:ext cx="3515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0B0B"/>
                </a:solidFill>
              </a:rPr>
              <a:t>+ метрики и heartbeat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8127797" y="4937760"/>
            <a:ext cx="3515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агрегаты раз в 5 мин для SLA, сигнал живости раз в 60 с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0B0B"/>
                </a:solidFill>
              </a:rPr>
              <a:t>Как передаём: push от адаптера, по событию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310896"/>
            <a:ext cx="1728216" cy="274320"/>
          </a:xfrm>
          <a:prstGeom prst="roundRect">
            <a:avLst>
              <a:gd name="adj" fmla="val 20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B0B0B"/>
                </a:solidFill>
              </a:rPr>
              <a:t>04 · КОНЦЕПЦИЯ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64328" cy="2651760"/>
          </a:xfrm>
          <a:prstGeom prst="roundRect">
            <a:avLst>
              <a:gd name="adj" fmla="val 2759"/>
            </a:avLst>
          </a:prstGeom>
          <a:solidFill>
            <a:srgbClr val="F4F4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810512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Кто инициирует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48840"/>
            <a:ext cx="4724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</a:rPr>
              <a:t>Адаптер — push в «Диво»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788920"/>
            <a:ext cx="47242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B0B0B"/>
                </a:solidFill>
              </a:rPr>
              <a:t>Diasoft не дорабатываем: адаптер читает реплику БД. «Диво» получает готовые события и не опрашивает чужие системы.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78728" y="1600200"/>
            <a:ext cx="5364328" cy="2651760"/>
          </a:xfrm>
          <a:prstGeom prst="roundRect">
            <a:avLst>
              <a:gd name="adj" fmla="val 2759"/>
            </a:avLst>
          </a:prstGeom>
          <a:solidFill>
            <a:srgbClr val="F4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1810512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В каком режиме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98768" y="2148840"/>
            <a:ext cx="4724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</a:rPr>
              <a:t>По событию + по расписанию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598768" y="2788920"/>
            <a:ext cx="47242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B0B0B"/>
                </a:solidFill>
              </a:rPr>
              <a:t>Проблема уходит в «Диво» за секунды. Метрики для SLA — пакетом раз в 5 минут, heartbeat — раз в минуту.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5720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C5B57"/>
                </a:solidFill>
              </a:rPr>
              <a:t>Рассмотрели и отклонили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937760"/>
            <a:ext cx="3515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</a:rPr>
              <a:t>Pull из «Диво»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285232"/>
            <a:ext cx="3515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5B57"/>
                </a:solidFill>
              </a:rPr>
              <a:t>задержка = период опроса, «Диво» должно знать внутренности Diasoft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338218" y="4937760"/>
            <a:ext cx="3515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</a:rPr>
              <a:t>Push прямо из Diasoft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338218" y="5285232"/>
            <a:ext cx="3515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5B57"/>
                </a:solidFill>
              </a:rPr>
              <a:t>доработка вендорской системы, события теряются при сбое «Диво»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127797" y="4937760"/>
            <a:ext cx="3515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</a:rPr>
              <a:t>Kafka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127797" y="5285232"/>
            <a:ext cx="3515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5B57"/>
                </a:solidFill>
              </a:rPr>
              <a:t>избыточно для десятков событий в минуту — путь развития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0B0B"/>
                </a:solidFill>
              </a:rPr>
              <a:t>Схема интеграции: четыре зоны ответственности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310896"/>
            <a:ext cx="1929384" cy="274320"/>
          </a:xfrm>
          <a:prstGeom prst="roundRect">
            <a:avLst>
              <a:gd name="adj" fmla="val 20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B0B0B"/>
                </a:solidFill>
              </a:rPr>
              <a:t>05 · АРХИТЕКТУРА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874520" cy="3520440"/>
          </a:xfrm>
          <a:prstGeom prst="roundRect">
            <a:avLst>
              <a:gd name="adj" fmla="val 3902"/>
            </a:avLst>
          </a:prstGeom>
          <a:solidFill>
            <a:srgbClr val="F4F4F2"/>
          </a:solidFill>
          <a:ln w="15875">
            <a:solidFill>
              <a:srgbClr val="5C5B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1848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</a:rPr>
              <a:t>Diasoft FA#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</a:rPr>
              <a:t>Treasury.Back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6E5E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Серверы приложений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C5B57"/>
                </a:solidFill>
              </a:rPr>
              <a:t>сделки · расчёты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297180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6E5E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БД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C5B57"/>
                </a:solidFill>
              </a:rPr>
              <a:t>журнал, статусы, задания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365760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6E5E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Read-only реплика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C5B57"/>
                </a:solidFill>
              </a:rPr>
              <a:t>для адаптера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4434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5B57"/>
                </a:solidFill>
              </a:rPr>
              <a:t>без доработок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880360" y="1508760"/>
            <a:ext cx="3429000" cy="352044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5875">
            <a:solidFill>
              <a:srgbClr val="0B0B0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17520" y="1618488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</a:rPr>
              <a:t>Integration Adapter · Treasury Event Gateway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017520" y="2286000"/>
            <a:ext cx="15087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6E5E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Source Connectors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C5B57"/>
                </a:solidFill>
              </a:rPr>
              <a:t>опрос 30 с · probe 20 с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63440" y="2286000"/>
            <a:ext cx="15087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6E5E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Rules Engine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C5B57"/>
                </a:solidFill>
              </a:rPr>
              <a:t>нормативы · severity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017520" y="2971800"/>
            <a:ext cx="15087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6E5E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Transactional Outbox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C5B57"/>
                </a:solidFill>
              </a:rPr>
              <a:t>PostgreSQL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63440" y="2971800"/>
            <a:ext cx="15087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6E5E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Delivery Worker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C5B57"/>
                </a:solidFill>
              </a:rPr>
              <a:t>retry · circuit breaker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017520" y="3657600"/>
            <a:ext cx="15087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6E5E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Heartbeat · метрики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C5B57"/>
                </a:solidFill>
              </a:rPr>
              <a:t>60 с · 5 мин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663440" y="3657600"/>
            <a:ext cx="15087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31D2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Dead Letter Queue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C5B57"/>
                </a:solidFill>
              </a:rPr>
              <a:t>алерт в мониторинг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017520" y="44348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B0B"/>
                </a:solidFill>
              </a:rPr>
              <a:t>гарантированная доставка, идемпотентность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766560" y="1508760"/>
            <a:ext cx="1188720" cy="3520440"/>
          </a:xfrm>
          <a:prstGeom prst="roundRect">
            <a:avLst>
              <a:gd name="adj" fmla="val 6154"/>
            </a:avLst>
          </a:prstGeom>
          <a:solidFill>
            <a:srgbClr val="F4F4F2"/>
          </a:solidFill>
          <a:ln w="15875">
            <a:solidFill>
              <a:srgbClr val="5C5B5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03720" y="1618488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</a:rPr>
              <a:t>API Gateway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03720" y="2286000"/>
            <a:ext cx="9144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6E5E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mTLS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903720" y="2834640"/>
            <a:ext cx="9144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6E5E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OAuth2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903720" y="3383280"/>
            <a:ext cx="9144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6E5E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лимиты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03720" y="3931920"/>
            <a:ext cx="9144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6E5E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аудит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412480" y="1508760"/>
            <a:ext cx="3230575" cy="3520440"/>
          </a:xfrm>
          <a:prstGeom prst="roundRect">
            <a:avLst>
              <a:gd name="adj" fmla="val 2264"/>
            </a:avLst>
          </a:prstGeom>
          <a:solidFill>
            <a:srgbClr val="E7EEFF"/>
          </a:solidFill>
          <a:ln w="15875">
            <a:solidFill>
              <a:srgbClr val="2B73F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49640" y="1618488"/>
            <a:ext cx="29562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</a:rPr>
              <a:t>ESM-платформа «Диво»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549640" y="2286000"/>
            <a:ext cx="140954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6E5E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Integration API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C5B57"/>
                </a:solidFill>
              </a:rPr>
              <a:t>/events · /metrics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096348" y="2286000"/>
            <a:ext cx="140954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6E5E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Корреляция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C5B57"/>
                </a:solidFill>
              </a:rPr>
              <a:t>дедуп · группировка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549640" y="2971800"/>
            <a:ext cx="140954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6E5E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«Диво Сервис»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C5B57"/>
                </a:solidFill>
              </a:rPr>
              <a:t>инциденты · SLA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0096348" y="2971800"/>
            <a:ext cx="140954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6E5E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CMDB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C5B57"/>
                </a:solidFill>
              </a:rPr>
              <a:t>услуги и КЕ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549640" y="3657600"/>
            <a:ext cx="140954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6E5E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«Диво Мера»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C5B57"/>
                </a:solidFill>
              </a:rPr>
              <a:t>дашборды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0096348" y="3657600"/>
            <a:ext cx="140954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6E5E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«Диво Портал»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C5B57"/>
                </a:solidFill>
              </a:rPr>
              <a:t>виджет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468880" y="3246120"/>
            <a:ext cx="365760" cy="0"/>
          </a:xfrm>
          <a:prstGeom prst="line">
            <a:avLst/>
          </a:prstGeom>
          <a:noFill/>
          <a:ln w="25400">
            <a:solidFill>
              <a:srgbClr val="5C5B57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2423160" y="2679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5B57"/>
                </a:solidFill>
              </a:rPr>
              <a:t>SQL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C5B57"/>
                </a:solidFill>
              </a:rPr>
              <a:t>read-only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355080" y="3246120"/>
            <a:ext cx="365760" cy="0"/>
          </a:xfrm>
          <a:prstGeom prst="line">
            <a:avLst/>
          </a:prstGeom>
          <a:noFill/>
          <a:ln w="31750">
            <a:solidFill>
              <a:srgbClr val="0B0B0B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6309360" y="2679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5B57"/>
                </a:solidFill>
              </a:rPr>
              <a:t>HTTPS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C5B57"/>
                </a:solidFill>
              </a:rPr>
              <a:t>REST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001000" y="3246120"/>
            <a:ext cx="365760" cy="0"/>
          </a:xfrm>
          <a:prstGeom prst="line">
            <a:avLst/>
          </a:prstGeom>
          <a:noFill/>
          <a:ln w="31750">
            <a:solidFill>
              <a:srgbClr val="0B0B0B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955280" y="2862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5B57"/>
                </a:solidFill>
              </a:rPr>
              <a:t>push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5349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Адаптер изолирует системы друг от друга · outbox и повторы не теряют события · идемпотентность по eventId · чтение только с реплики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0B0B"/>
                </a:solidFill>
              </a:rPr>
              <a:t>Sequence diagram: от задержки до закрытия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310896"/>
            <a:ext cx="2432304" cy="274320"/>
          </a:xfrm>
          <a:prstGeom prst="roundRect">
            <a:avLst>
              <a:gd name="adj" fmla="val 20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B0B0B"/>
                </a:solidFill>
              </a:rPr>
              <a:t>06 · СХЕМА ИНТЕГРАЦИИ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85800" y="150876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F4F4F2"/>
          </a:solidFill>
          <a:ln w="9525">
            <a:solidFill>
              <a:srgbClr val="5C5B5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</a:rPr>
              <a:t>Diasoft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645920" y="1965960"/>
            <a:ext cx="0" cy="4160520"/>
          </a:xfrm>
          <a:prstGeom prst="line">
            <a:avLst/>
          </a:prstGeom>
          <a:noFill/>
          <a:ln w="15875">
            <a:solidFill>
              <a:srgbClr val="C9CC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11880" y="150876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F4F4F2"/>
          </a:solidFill>
          <a:ln w="9525">
            <a:solidFill>
              <a:srgbClr val="5C5B5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</a:rPr>
              <a:t>Адаптер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0" y="1965960"/>
            <a:ext cx="0" cy="4160520"/>
          </a:xfrm>
          <a:prstGeom prst="line">
            <a:avLst/>
          </a:prstGeom>
          <a:noFill/>
          <a:ln w="15875">
            <a:solidFill>
              <a:srgbClr val="C9CC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50876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F4F4F2"/>
          </a:solidFill>
          <a:ln w="9525">
            <a:solidFill>
              <a:srgbClr val="5C5B5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</a:rPr>
              <a:t>«Диво»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863840" y="1965960"/>
            <a:ext cx="0" cy="4160520"/>
          </a:xfrm>
          <a:prstGeom prst="line">
            <a:avLst/>
          </a:prstGeom>
          <a:noFill/>
          <a:ln w="15875">
            <a:solidFill>
              <a:srgbClr val="C9CCD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46920" y="150876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F4F4F2"/>
          </a:solidFill>
          <a:ln w="9525">
            <a:solidFill>
              <a:srgbClr val="5C5B5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</a:rPr>
              <a:t>Дежурный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607040" y="1965960"/>
            <a:ext cx="0" cy="4160520"/>
          </a:xfrm>
          <a:prstGeom prst="line">
            <a:avLst/>
          </a:prstGeom>
          <a:noFill/>
          <a:ln w="15875">
            <a:solidFill>
              <a:srgbClr val="C9CCD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45920" y="2395728"/>
            <a:ext cx="2926080" cy="0"/>
          </a:xfrm>
          <a:prstGeom prst="line">
            <a:avLst/>
          </a:prstGeom>
          <a:noFill/>
          <a:ln w="19050">
            <a:solidFill>
              <a:srgbClr val="5C5B57"/>
            </a:solidFill>
            <a:prstDash val="dash"/>
            <a:headEnd type="triangle"/>
          </a:ln>
        </p:spPr>
      </p:sp>
      <p:sp>
        <p:nvSpPr>
          <p:cNvPr id="13" name="Text 11"/>
          <p:cNvSpPr txBox="1"/>
          <p:nvPr/>
        </p:nvSpPr>
        <p:spPr>
          <a:xfrm>
            <a:off x="1645920" y="21031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5B57"/>
                </a:solidFill>
              </a:rPr>
              <a:t>опрос реплики, каждые 30 с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645920" y="2852928"/>
            <a:ext cx="2926080" cy="0"/>
          </a:xfrm>
          <a:prstGeom prst="line">
            <a:avLst/>
          </a:prstGeom>
          <a:noFill/>
          <a:ln w="19050">
            <a:solidFill>
              <a:srgbClr val="0B0B0B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1645920" y="2560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0B0B"/>
                </a:solidFill>
              </a:rPr>
              <a:t>сделка 22 мин при нормативе 5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834640" y="3127248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FFF4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0B0B"/>
                </a:solidFill>
              </a:rPr>
              <a:t>OPERATION_DELAYED · MAJOR, в outbox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0" y="3904488"/>
            <a:ext cx="3291840" cy="0"/>
          </a:xfrm>
          <a:prstGeom prst="line">
            <a:avLst/>
          </a:prstGeom>
          <a:noFill/>
          <a:ln w="19050">
            <a:solidFill>
              <a:srgbClr val="0B0B0B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4572000" y="36118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0B0B"/>
                </a:solidFill>
              </a:rPr>
              <a:t>POST /events · Idempotency-Key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0" y="4361688"/>
            <a:ext cx="3291840" cy="0"/>
          </a:xfrm>
          <a:prstGeom prst="line">
            <a:avLst/>
          </a:prstGeom>
          <a:noFill/>
          <a:ln w="19050">
            <a:solidFill>
              <a:srgbClr val="5C5B57"/>
            </a:solidFill>
            <a:prstDash val="dash"/>
            <a:headEnd type="triangle"/>
          </a:ln>
        </p:spPr>
      </p:sp>
      <p:sp>
        <p:nvSpPr>
          <p:cNvPr id="20" name="Text 18"/>
          <p:cNvSpPr txBox="1"/>
          <p:nvPr/>
        </p:nvSpPr>
        <p:spPr>
          <a:xfrm>
            <a:off x="4572000" y="4069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5B57"/>
                </a:solidFill>
              </a:rPr>
              <a:t>202 Accepted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863840" y="4818888"/>
            <a:ext cx="2743200" cy="0"/>
          </a:xfrm>
          <a:prstGeom prst="line">
            <a:avLst/>
          </a:prstGeom>
          <a:noFill/>
          <a:ln w="19050">
            <a:solidFill>
              <a:srgbClr val="E31D2F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7863840" y="4526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31D2F"/>
                </a:solidFill>
              </a:rPr>
              <a:t>инцидент P2 + уведомление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645920" y="5276088"/>
            <a:ext cx="2926080" cy="0"/>
          </a:xfrm>
          <a:prstGeom prst="line">
            <a:avLst/>
          </a:prstGeom>
          <a:noFill/>
          <a:ln w="19050">
            <a:solidFill>
              <a:srgbClr val="0B0B0B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1645920" y="49834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0B0B"/>
                </a:solidFill>
              </a:rPr>
              <a:t>расчёт завершён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0" y="5733288"/>
            <a:ext cx="3291840" cy="0"/>
          </a:xfrm>
          <a:prstGeom prst="line">
            <a:avLst/>
          </a:prstGeom>
          <a:noFill/>
          <a:ln w="19050">
            <a:solidFill>
              <a:srgbClr val="0B0B0B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572000" y="5440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0B0B"/>
                </a:solidFill>
              </a:rPr>
              <a:t>POST /events · RESOLVED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126480" y="6007608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E4F6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0B0B"/>
                </a:solidFill>
              </a:rPr>
              <a:t>инцидент закрыт, SLA-таймер остановлен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0B0B"/>
                </a:solidFill>
              </a:rPr>
              <a:t>Что если что-то сломалось: события не теряются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310896"/>
            <a:ext cx="2432304" cy="274320"/>
          </a:xfrm>
          <a:prstGeom prst="roundRect">
            <a:avLst>
              <a:gd name="adj" fmla="val 20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B0B0B"/>
                </a:solidFill>
              </a:rPr>
              <a:t>07 · ОБРАБОТКА ОШИБОК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E6E5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38528"/>
            <a:ext cx="182880" cy="182880"/>
          </a:xfrm>
          <a:prstGeom prst="ellipse">
            <a:avLst/>
          </a:prstGeom>
          <a:solidFill>
            <a:srgbClr val="E31D2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88720" y="1828800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</a:rPr>
              <a:t>«Диво» недоступно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423160"/>
            <a:ext cx="47242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5B57"/>
                </a:solidFill>
              </a:rPr>
              <a:t>Событие ждёт в outbox. Повторы с растущей паузой, после восстановления — досылка пакетом.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78728" y="1554480"/>
            <a:ext cx="5364328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E6E5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98768" y="1938528"/>
            <a:ext cx="182880" cy="182880"/>
          </a:xfrm>
          <a:prstGeom prst="ellipse">
            <a:avLst/>
          </a:prstGeom>
          <a:solidFill>
            <a:srgbClr val="FF5B1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18808" y="1828800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</a:rPr>
              <a:t>Событие пришло дважды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98768" y="2423160"/>
            <a:ext cx="47242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5B57"/>
                </a:solidFill>
              </a:rPr>
              <a:t>eventId — ключ идемпотентности: «Диво» ответит 200 DUPLICATE, второго инцидента не будет.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5364328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E6E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68680" y="4270248"/>
            <a:ext cx="182880" cy="182880"/>
          </a:xfrm>
          <a:prstGeom prst="ellipse">
            <a:avLst/>
          </a:prstGeom>
          <a:solidFill>
            <a:srgbClr val="E31D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88720" y="4160520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</a:rPr>
              <a:t>Упал сам адаптер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4754880"/>
            <a:ext cx="47242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5B57"/>
                </a:solidFill>
              </a:rPr>
              <a:t>Нет heartbeat 3 минуты — «Диво» само поднимает тревогу и показывает «Нет данных», а не «Норма».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278728" y="3886200"/>
            <a:ext cx="5364328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E6E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98768" y="4270248"/>
            <a:ext cx="182880" cy="182880"/>
          </a:xfrm>
          <a:prstGeom prst="ellipse">
            <a:avLst/>
          </a:prstGeom>
          <a:solidFill>
            <a:srgbClr val="C9CCD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18808" y="4160520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</a:rPr>
              <a:t>Ошибка в данных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598768" y="4754880"/>
            <a:ext cx="47242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5B57"/>
                </a:solidFill>
              </a:rPr>
              <a:t>Без повторов — в Dead Letter Queue и алерт команде интеграции.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0B0B"/>
                </a:solidFill>
              </a:rPr>
              <a:t>API-контракт: 5 методов REST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310896"/>
            <a:ext cx="2029968" cy="274320"/>
          </a:xfrm>
          <a:prstGeom prst="roundRect">
            <a:avLst>
              <a:gd name="adj" fmla="val 20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B0B0B"/>
                </a:solidFill>
              </a:rPr>
              <a:t>08 · API-КОНТРАКТ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673352"/>
            <a:ext cx="731520" cy="329184"/>
          </a:xfrm>
          <a:prstGeom prst="roundRect">
            <a:avLst>
              <a:gd name="adj" fmla="val 16667"/>
            </a:avLst>
          </a:prstGeom>
          <a:solidFill>
            <a:srgbClr val="0B0B0B"/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POST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165506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/events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937760" y="1673352"/>
            <a:ext cx="6705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B0B0B"/>
                </a:solidFill>
              </a:rPr>
              <a:t>Передать событие — основной канал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112264"/>
            <a:ext cx="11094415" cy="0"/>
          </a:xfrm>
          <a:prstGeom prst="line">
            <a:avLst/>
          </a:prstGeom>
          <a:noFill/>
          <a:ln w="12700">
            <a:solidFill>
              <a:srgbClr val="E6E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276856"/>
            <a:ext cx="731520" cy="329184"/>
          </a:xfrm>
          <a:prstGeom prst="roundRect">
            <a:avLst>
              <a:gd name="adj" fmla="val 16667"/>
            </a:avLst>
          </a:prstGeom>
          <a:solidFill>
            <a:srgbClr val="0B0B0B"/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POST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25856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/events/batch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2276856"/>
            <a:ext cx="6705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B0B0B"/>
                </a:solidFill>
              </a:rPr>
              <a:t>До 500 событий: досылка после сбоя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2715768"/>
            <a:ext cx="11094415" cy="0"/>
          </a:xfrm>
          <a:prstGeom prst="line">
            <a:avLst/>
          </a:prstGeom>
          <a:noFill/>
          <a:ln w="12700">
            <a:solidFill>
              <a:srgbClr val="E6E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880360"/>
            <a:ext cx="731520" cy="329184"/>
          </a:xfrm>
          <a:prstGeom prst="roundRect">
            <a:avLst>
              <a:gd name="adj" fmla="val 16667"/>
            </a:avLst>
          </a:prstGeom>
          <a:solidFill>
            <a:srgbClr val="2B73FE"/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GET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286207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/events/{eventId}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937760" y="2880360"/>
            <a:ext cx="6705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B0B0B"/>
                </a:solidFill>
              </a:rPr>
              <a:t>Узнать, создан ли инцидент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48640" y="3319272"/>
            <a:ext cx="11094415" cy="0"/>
          </a:xfrm>
          <a:prstGeom prst="line">
            <a:avLst/>
          </a:prstGeom>
          <a:noFill/>
          <a:ln w="12700">
            <a:solidFill>
              <a:srgbClr val="E6E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483864"/>
            <a:ext cx="731520" cy="329184"/>
          </a:xfrm>
          <a:prstGeom prst="roundRect">
            <a:avLst>
              <a:gd name="adj" fmla="val 16667"/>
            </a:avLst>
          </a:prstGeom>
          <a:solidFill>
            <a:srgbClr val="0B0B0B"/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POST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346557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/metrics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937760" y="3483864"/>
            <a:ext cx="6705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B0B0B"/>
                </a:solidFill>
              </a:rPr>
              <a:t>Агрегаты за 5 минут для SLA и дашбордов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3922776"/>
            <a:ext cx="11094415" cy="0"/>
          </a:xfrm>
          <a:prstGeom prst="line">
            <a:avLst/>
          </a:prstGeom>
          <a:noFill/>
          <a:ln w="12700">
            <a:solidFill>
              <a:srgbClr val="E6E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087368"/>
            <a:ext cx="731520" cy="329184"/>
          </a:xfrm>
          <a:prstGeom prst="roundRect">
            <a:avLst>
              <a:gd name="adj" fmla="val 16667"/>
            </a:avLst>
          </a:prstGeom>
          <a:solidFill>
            <a:srgbClr val="0B0B0B"/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POST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508760" y="406908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/heartbeat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4937760" y="4087368"/>
            <a:ext cx="6705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B0B0B"/>
                </a:solidFill>
              </a:rPr>
              <a:t>Адаптер жив — раз в 60 секунд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548640" y="4846320"/>
            <a:ext cx="2602154" cy="1051560"/>
          </a:xfrm>
          <a:prstGeom prst="roundRect">
            <a:avLst>
              <a:gd name="adj" fmla="val 6957"/>
            </a:avLst>
          </a:prstGeom>
          <a:solidFill>
            <a:srgbClr val="F4F4F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77240" y="4956048"/>
            <a:ext cx="21449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36B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5413248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принято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379394" y="4846320"/>
            <a:ext cx="2602154" cy="1051560"/>
          </a:xfrm>
          <a:prstGeom prst="roundRect">
            <a:avLst>
              <a:gd name="adj" fmla="val 6957"/>
            </a:avLst>
          </a:prstGeom>
          <a:solidFill>
            <a:srgbClr val="F4F4F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607994" y="4956048"/>
            <a:ext cx="21449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36B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3607994" y="5413248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дубль, уже было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210148" y="4846320"/>
            <a:ext cx="2602154" cy="1051560"/>
          </a:xfrm>
          <a:prstGeom prst="roundRect">
            <a:avLst>
              <a:gd name="adj" fmla="val 6957"/>
            </a:avLst>
          </a:prstGeom>
          <a:solidFill>
            <a:srgbClr val="F4F4F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438748" y="4956048"/>
            <a:ext cx="21449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31D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4xx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6438748" y="5413248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ошибка данных → DLQ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9040901" y="4846320"/>
            <a:ext cx="2602154" cy="1051560"/>
          </a:xfrm>
          <a:prstGeom prst="roundRect">
            <a:avLst>
              <a:gd name="adj" fmla="val 6957"/>
            </a:avLst>
          </a:prstGeom>
          <a:solidFill>
            <a:srgbClr val="F4F4F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9269501" y="4956048"/>
            <a:ext cx="21449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5B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 · 503</a:t>
            </a:r>
            <a:endParaRPr lang="en-US" sz="2200" dirty="0"/>
          </a:p>
        </p:txBody>
      </p:sp>
      <p:sp>
        <p:nvSpPr>
          <p:cNvPr id="34" name="Text 32"/>
          <p:cNvSpPr txBox="1"/>
          <p:nvPr/>
        </p:nvSpPr>
        <p:spPr>
          <a:xfrm>
            <a:off x="9269501" y="5413248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повторить позже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60350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984"/>
                </a:solidFill>
              </a:rPr>
              <a:t>OpenAPI 3.1 · mTLS + OAuth2 · ошибки в формате RFC 9457 · полная спецификация — api/openapi.yaml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0B0B"/>
                </a:solidFill>
              </a:rPr>
              <a:t>Схема данных: каждое поле отвечает на вопрос «Диво»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310896"/>
            <a:ext cx="2029968" cy="274320"/>
          </a:xfrm>
          <a:prstGeom prst="roundRect">
            <a:avLst>
              <a:gd name="adj" fmla="val 20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B0B0B"/>
                </a:solidFill>
              </a:rPr>
              <a:t>09 · СХЕМА ДАННЫХ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5486400" cy="4343400"/>
          </a:xfrm>
          <a:prstGeom prst="rect">
            <a:avLst/>
          </a:prstGeom>
          <a:solidFill>
            <a:srgbClr val="0B0B0B"/>
          </a:solidFill>
          <a:ln/>
        </p:spPr>
        <p:txBody>
          <a:bodyPr wrap="square" lIns="177800" tIns="203200" rIns="203200" bIns="17780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5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5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"eventId": "0192f1a4-7c3e-…",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5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"eventType": "OPERATION_DELAYED",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5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"state": "FIRING",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5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"severity": "MAJOR",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5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"occurredAt": "2026-10-26T11:30:00+03:00",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5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"service": { "code": "TREASURY_FX_MM_SETTLEMENT",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5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"ciId": "CI-TB-SETTL-01" },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5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"operation": { "id": "FX-2026-834724",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5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"amountClass": "LARGE" },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5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"sla": { "timeToBreachSec": 13359 },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5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"message": "Превышено время расчёта…"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5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1572768"/>
            <a:ext cx="5242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eventId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1901952"/>
            <a:ext cx="5242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то же событие или новое? — без дублей инцидентов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2295144"/>
            <a:ext cx="5242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eventType · severity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624328"/>
            <a:ext cx="5242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что случилось и насколько плохо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3017520"/>
            <a:ext cx="5242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3346704"/>
            <a:ext cx="5242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проблема есть или ушла — закрыть инцидент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3739896"/>
            <a:ext cx="5242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service.ciId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4069080"/>
            <a:ext cx="5242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какую ИТ-услугу задело — SLA и группа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4462272"/>
            <a:ext cx="5242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sla.timeToBreachSec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4791456"/>
            <a:ext cx="5242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сколько осталось — главный для приоритета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5184648"/>
            <a:ext cx="5242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amountClass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5513832"/>
            <a:ext cx="5242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значимость без суммы — банковская тайна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0B0B"/>
                </a:solidFill>
              </a:rPr>
              <a:t>Мониторинг: что горит и что спасать первым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310896"/>
            <a:ext cx="1463040" cy="274320"/>
          </a:xfrm>
          <a:prstGeom prst="roundRect">
            <a:avLst>
              <a:gd name="adj" fmla="val 20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B0B0B"/>
                </a:solidFill>
              </a:rPr>
              <a:t>10 · МАКЕТЫ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30352" y="1490472"/>
            <a:ext cx="7391446" cy="4745736"/>
          </a:xfrm>
          <a:prstGeom prst="roundRect">
            <a:avLst>
              <a:gd name="adj" fmla="val 771"/>
            </a:avLst>
          </a:prstGeom>
          <a:solidFill>
            <a:srgbClr val="FFFFFF"/>
          </a:solidFill>
          <a:ln w="9525">
            <a:solidFill>
              <a:srgbClr val="E6E5E0"/>
            </a:solidFill>
            <a:prstDash val="solid"/>
          </a:ln>
        </p:spPr>
      </p:sp>
      <p:pic>
        <p:nvPicPr>
          <p:cNvPr id="5" name="Image 0" descr="Мониторинг: что горит и что спасать первы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7354870" cy="470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314990" y="1600200"/>
            <a:ext cx="384048" cy="384048"/>
          </a:xfrm>
          <a:prstGeom prst="ellipse">
            <a:avLst/>
          </a:prstGeom>
          <a:solidFill>
            <a:srgbClr val="0B0B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863630" y="1618488"/>
            <a:ext cx="27794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0B0B"/>
                </a:solidFill>
              </a:rPr>
              <a:t>Статус интеграции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863630" y="2011680"/>
            <a:ext cx="277942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тишина — норма, только если адаптер жив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314990" y="2971800"/>
            <a:ext cx="384048" cy="384048"/>
          </a:xfrm>
          <a:prstGeom prst="ellipse">
            <a:avLst/>
          </a:prstGeom>
          <a:solidFill>
            <a:srgbClr val="0B0B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863630" y="2990088"/>
            <a:ext cx="27794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0B0B"/>
                </a:solidFill>
              </a:rPr>
              <a:t>SLA под угрозой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863630" y="3383280"/>
            <a:ext cx="277942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«осталось 22 мин» вместо дедлайна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314990" y="4343400"/>
            <a:ext cx="384048" cy="384048"/>
          </a:xfrm>
          <a:prstGeom prst="ellipse">
            <a:avLst/>
          </a:prstGeom>
          <a:solidFill>
            <a:srgbClr val="0B0B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863630" y="4361688"/>
            <a:ext cx="27794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0B0B"/>
                </a:solidFill>
              </a:rPr>
              <a:t>Таблица событий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8863630" y="4754880"/>
            <a:ext cx="277942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критичность первой колонкой, устранённые приглушены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0B0B"/>
                </a:solidFill>
              </a:rPr>
              <a:t>Карточка события: сколько осталось и кто работает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310896"/>
            <a:ext cx="1463040" cy="274320"/>
          </a:xfrm>
          <a:prstGeom prst="roundRect">
            <a:avLst>
              <a:gd name="adj" fmla="val 20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B0B0B"/>
                </a:solidFill>
              </a:rPr>
              <a:t>10 · МАКЕТЫ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30352" y="1490472"/>
            <a:ext cx="7900416" cy="4192397"/>
          </a:xfrm>
          <a:prstGeom prst="roundRect">
            <a:avLst>
              <a:gd name="adj" fmla="val 872"/>
            </a:avLst>
          </a:prstGeom>
          <a:solidFill>
            <a:srgbClr val="FFFFFF"/>
          </a:solidFill>
          <a:ln w="9525">
            <a:solidFill>
              <a:srgbClr val="E6E5E0"/>
            </a:solidFill>
            <a:prstDash val="solid"/>
          </a:ln>
        </p:spPr>
      </p:sp>
      <p:pic>
        <p:nvPicPr>
          <p:cNvPr id="5" name="Image 0" descr="Карточка события: сколько осталось и кто работает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7863840" cy="415582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23960" y="1600200"/>
            <a:ext cx="384048" cy="384048"/>
          </a:xfrm>
          <a:prstGeom prst="ellipse">
            <a:avLst/>
          </a:prstGeom>
          <a:solidFill>
            <a:srgbClr val="0B0B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9372600" y="1618488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0B0B"/>
                </a:solidFill>
              </a:rPr>
              <a:t>Запас до дедлайна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9372600" y="2011680"/>
            <a:ext cx="2270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крупно — сколько минут до нарушения SLA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823960" y="2971800"/>
            <a:ext cx="384048" cy="384048"/>
          </a:xfrm>
          <a:prstGeom prst="ellipse">
            <a:avLst/>
          </a:prstGeom>
          <a:solidFill>
            <a:srgbClr val="0B0B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9372600" y="2990088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0B0B"/>
                </a:solidFill>
              </a:rPr>
              <a:t>Что произошло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9372600" y="3383280"/>
            <a:ext cx="2270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от Diasoft до инцидента за секунды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823960" y="4343400"/>
            <a:ext cx="384048" cy="384048"/>
          </a:xfrm>
          <a:prstGeom prst="ellipse">
            <a:avLst/>
          </a:prstGeom>
          <a:solidFill>
            <a:srgbClr val="0B0B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9372600" y="4361688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0B0B"/>
                </a:solidFill>
              </a:rPr>
              <a:t>Одно действие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9372600" y="4754880"/>
            <a:ext cx="2270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инцидент уже создан — открыть его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0B0B"/>
                </a:solidFill>
              </a:rPr>
              <a:t>Дашборд «Диво Мера»: доступность и SLA за месяц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310896"/>
            <a:ext cx="1463040" cy="274320"/>
          </a:xfrm>
          <a:prstGeom prst="roundRect">
            <a:avLst>
              <a:gd name="adj" fmla="val 20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B0B0B"/>
                </a:solidFill>
              </a:rPr>
              <a:t>10 · МАКЕТЫ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30352" y="1490472"/>
            <a:ext cx="7900416" cy="4252468"/>
          </a:xfrm>
          <a:prstGeom prst="roundRect">
            <a:avLst>
              <a:gd name="adj" fmla="val 860"/>
            </a:avLst>
          </a:prstGeom>
          <a:solidFill>
            <a:srgbClr val="FFFFFF"/>
          </a:solidFill>
          <a:ln w="9525">
            <a:solidFill>
              <a:srgbClr val="E6E5E0"/>
            </a:solidFill>
            <a:prstDash val="solid"/>
          </a:ln>
        </p:spPr>
      </p:sp>
      <p:pic>
        <p:nvPicPr>
          <p:cNvPr id="5" name="Image 0" descr="Дашборд «Диво Мера»: доступность и SLA за месяц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7863840" cy="42158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23960" y="1600200"/>
            <a:ext cx="384048" cy="384048"/>
          </a:xfrm>
          <a:prstGeom prst="ellipse">
            <a:avLst/>
          </a:prstGeom>
          <a:solidFill>
            <a:srgbClr val="0B0B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9372600" y="1618488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0B0B"/>
                </a:solidFill>
              </a:rPr>
              <a:t>Эффект на виду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9372600" y="2011680"/>
            <a:ext cx="2270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доступность, время обнаружения и восстановления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823960" y="2971800"/>
            <a:ext cx="384048" cy="384048"/>
          </a:xfrm>
          <a:prstGeom prst="ellipse">
            <a:avLst/>
          </a:prstGeom>
          <a:solidFill>
            <a:srgbClr val="0B0B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9372600" y="2990088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0B0B"/>
                </a:solidFill>
              </a:rPr>
              <a:t>30 дней по услугам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9372600" y="3383280"/>
            <a:ext cx="2270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видно, какая услуга болеет систематически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823960" y="4343400"/>
            <a:ext cx="384048" cy="384048"/>
          </a:xfrm>
          <a:prstGeom prst="ellipse">
            <a:avLst/>
          </a:prstGeom>
          <a:solidFill>
            <a:srgbClr val="0B0B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9372600" y="4361688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0B0B"/>
                </a:solidFill>
              </a:rPr>
              <a:t>Уровни событий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9372600" y="4754880"/>
            <a:ext cx="2270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сколько CRITICAL, MAJOR и WARNING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0B0B"/>
                </a:solidFill>
              </a:rPr>
              <a:t>Ожидаемый эффект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310896"/>
            <a:ext cx="1463040" cy="274320"/>
          </a:xfrm>
          <a:prstGeom prst="roundRect">
            <a:avLst>
              <a:gd name="adj" fmla="val 20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B0B0B"/>
                </a:solidFill>
              </a:rPr>
              <a:t>11 · ЭФФЕКТ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1920240"/>
          </a:xfrm>
          <a:prstGeom prst="roundRect">
            <a:avLst>
              <a:gd name="adj" fmla="val 3810"/>
            </a:avLst>
          </a:prstGeom>
          <a:solidFill>
            <a:srgbClr val="F4F4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828800"/>
            <a:ext cx="4724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36B3F"/>
                </a:solidFill>
              </a:rPr>
              <a:t>≤ 2 мин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33472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B0B0B"/>
                </a:solidFill>
              </a:rPr>
              <a:t>время обнаружения сбоя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999232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5B57"/>
                </a:solidFill>
              </a:rPr>
              <a:t>было: 15–40 мин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78728" y="1554480"/>
            <a:ext cx="5364328" cy="1920240"/>
          </a:xfrm>
          <a:prstGeom prst="roundRect">
            <a:avLst>
              <a:gd name="adj" fmla="val 3810"/>
            </a:avLst>
          </a:prstGeom>
          <a:solidFill>
            <a:srgbClr val="F4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1828800"/>
            <a:ext cx="4724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36B3F"/>
                </a:solidFill>
              </a:rPr>
              <a:t>≥ 80 %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6598768" y="2633472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B0B0B"/>
                </a:solidFill>
              </a:rPr>
              <a:t>инцидентов создаются автоматически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598768" y="2999232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5B57"/>
                </a:solidFill>
              </a:rPr>
              <a:t>было: ≈ 0 %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749040"/>
            <a:ext cx="5364328" cy="1920240"/>
          </a:xfrm>
          <a:prstGeom prst="roundRect">
            <a:avLst>
              <a:gd name="adj" fmla="val 3810"/>
            </a:avLst>
          </a:prstGeom>
          <a:solidFill>
            <a:srgbClr val="F4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68680" y="4023360"/>
            <a:ext cx="4724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36B3F"/>
                </a:solidFill>
              </a:rPr>
              <a:t>100 %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4828032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B0B0B"/>
                </a:solidFill>
              </a:rPr>
              <a:t>сбоев попадают в SLA-отчёт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5193792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5B57"/>
                </a:solidFill>
              </a:rPr>
              <a:t>было: частично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78728" y="3749040"/>
            <a:ext cx="5364328" cy="1920240"/>
          </a:xfrm>
          <a:prstGeom prst="roundRect">
            <a:avLst>
              <a:gd name="adj" fmla="val 3810"/>
            </a:avLst>
          </a:prstGeom>
          <a:solidFill>
            <a:srgbClr val="F4F4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98768" y="4023360"/>
            <a:ext cx="4724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36B3F"/>
                </a:solidFill>
              </a:rPr>
              <a:t>−50 %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6598768" y="4828032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B0B0B"/>
                </a:solidFill>
              </a:rPr>
              <a:t>обращений во время известного сбоя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598768" y="5193792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5B57"/>
                </a:solidFill>
              </a:rPr>
              <a:t>было: каждый звонит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05332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984"/>
                </a:solidFill>
              </a:rPr>
              <a:t>«Было» — оценка типичной ручной схемы. Цели предлагается зафиксировать как KPI пилота и измерять в «Диво Мера».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0B0B"/>
                </a:solidFill>
              </a:rPr>
              <a:t>План внедрения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310896"/>
            <a:ext cx="1728216" cy="274320"/>
          </a:xfrm>
          <a:prstGeom prst="roundRect">
            <a:avLst>
              <a:gd name="adj" fmla="val 20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B0B0B"/>
                </a:solidFill>
              </a:rPr>
              <a:t>12 · ВНЕДРЕНИЕ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777240" y="1901952"/>
            <a:ext cx="10637215" cy="0"/>
          </a:xfrm>
          <a:prstGeom prst="line">
            <a:avLst/>
          </a:prstGeom>
          <a:noFill/>
          <a:ln w="25400">
            <a:solidFill>
              <a:srgbClr val="E6E5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664208"/>
            <a:ext cx="475488" cy="475488"/>
          </a:xfrm>
          <a:prstGeom prst="ellipse">
            <a:avLst/>
          </a:prstGeom>
          <a:solidFill>
            <a:srgbClr val="0B0B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77440"/>
            <a:ext cx="20725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</a:rPr>
              <a:t>Согласование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816352"/>
            <a:ext cx="20725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C5B57"/>
                </a:solidFill>
              </a:rPr>
              <a:t>2 нед.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00400"/>
            <a:ext cx="19811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</a:rPr>
              <a:t>события, нормативы, доступ к реплике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804099" y="1664208"/>
            <a:ext cx="475488" cy="475488"/>
          </a:xfrm>
          <a:prstGeom prst="ellipse">
            <a:avLst/>
          </a:prstGeom>
          <a:solidFill>
            <a:srgbClr val="0B0B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804099" y="2377440"/>
            <a:ext cx="20725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</a:rPr>
              <a:t>MVP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2804099" y="2816352"/>
            <a:ext cx="20725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C5B57"/>
                </a:solidFill>
              </a:rPr>
              <a:t>4–6 нед.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804099" y="3200400"/>
            <a:ext cx="19811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</a:rPr>
              <a:t>4 события, /events, экран мониторинга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59558" y="1664208"/>
            <a:ext cx="475488" cy="475488"/>
          </a:xfrm>
          <a:prstGeom prst="ellipse">
            <a:avLst/>
          </a:prstGeom>
          <a:solidFill>
            <a:srgbClr val="FF5B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059558" y="2377440"/>
            <a:ext cx="20725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</a:rPr>
              <a:t>Теневой пилот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5059558" y="2816352"/>
            <a:ext cx="20725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C5B57"/>
                </a:solidFill>
              </a:rPr>
              <a:t>4 нед.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059558" y="3200400"/>
            <a:ext cx="19811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</a:rPr>
              <a:t>события без инцидентов, калибровка порогов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315017" y="1664208"/>
            <a:ext cx="475488" cy="475488"/>
          </a:xfrm>
          <a:prstGeom prst="ellipse">
            <a:avLst/>
          </a:prstGeom>
          <a:solidFill>
            <a:srgbClr val="0B0B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315017" y="2377440"/>
            <a:ext cx="20725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</a:rPr>
              <a:t>Эксплуатация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7315017" y="2816352"/>
            <a:ext cx="20725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C5B57"/>
                </a:solidFill>
              </a:rPr>
              <a:t>2 нед.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315017" y="3200400"/>
            <a:ext cx="19811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</a:rPr>
              <a:t>автоинциденты, SLA, карточка, виджет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570476" y="1664208"/>
            <a:ext cx="475488" cy="475488"/>
          </a:xfrm>
          <a:prstGeom prst="ellipse">
            <a:avLst/>
          </a:prstGeom>
          <a:solidFill>
            <a:srgbClr val="0B0B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570476" y="2377440"/>
            <a:ext cx="20725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</a:rPr>
              <a:t>Развитие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9570476" y="2816352"/>
            <a:ext cx="20725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C5B57"/>
                </a:solidFill>
              </a:rPr>
              <a:t>далее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570476" y="3200400"/>
            <a:ext cx="19811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</a:rPr>
              <a:t>метрики, «Мера», другие системы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48640" y="4709160"/>
            <a:ext cx="11094415" cy="1097280"/>
          </a:xfrm>
          <a:prstGeom prst="roundRect">
            <a:avLst>
              <a:gd name="adj" fmla="val 6667"/>
            </a:avLst>
          </a:prstGeom>
          <a:solidFill>
            <a:srgbClr val="FFEAD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68680" y="4709160"/>
            <a:ext cx="104543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</a:rPr>
              <a:t>Теневой пилот — главная страховка: месяц события идут в «Диво» без создания инцидентов, пороги калибруются на реальных данных, «шторма» ложных инцидентов не будет.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Итог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420624" cy="420624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162763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Адаптер без доработок Diasoft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2011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CD2"/>
                </a:solidFill>
              </a:rPr>
              <a:t>push событий в «Диво», outbox и повторы — ничего не теряется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514600"/>
            <a:ext cx="420624" cy="420624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</a:rPr>
              <a:t>2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4963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Контракт, который можно проверить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8803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CD2"/>
                </a:solidFill>
              </a:rPr>
              <a:t>5 методов REST, OpenAPI 3.1, JSON Schema и 14 примеров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383280"/>
            <a:ext cx="420624" cy="420624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</a:rPr>
              <a:t>3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336499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Раздел «Диво» в Figma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CD2"/>
                </a:solidFill>
              </a:rPr>
              <a:t>мониторинг, карточка события, дашборд, виджет — UI Kit на переменных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4251960"/>
            <a:ext cx="420624" cy="420624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</a:rPr>
              <a:t>4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42336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Измеримый эффект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4617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CD2"/>
                </a:solidFill>
              </a:rPr>
              <a:t>обнаружение ≤ 2 мин, ≥ 80 % автоинцидентов, полный SLA-отчёт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5349240"/>
            <a:ext cx="11094415" cy="0"/>
          </a:xfrm>
          <a:prstGeom prst="line">
            <a:avLst/>
          </a:prstGeom>
          <a:noFill/>
          <a:ln w="12700">
            <a:solidFill>
              <a:srgbClr val="3A3A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48640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CD2"/>
                </a:solidFill>
              </a:rPr>
              <a:t>Репозиторий: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github.com/&lt;пользователь&gt;/&lt;репозиторий&gt;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9CCD2"/>
                </a:solidFill>
              </a:rPr>
              <a:t>Макеты Figma: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ссылка на файл Figma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528255" y="5486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ФИО участника · вуз · курс</a:t>
            </a:r>
            <a:endParaRPr lang="en-US" sz="1400" dirty="0"/>
          </a:p>
        </p:txBody>
      </p:sp>
      <p:sp>
        <p:nvSpPr>
          <p:cNvPr id="18" name="Text 0"/>
          <p:cNvSpPr/>
          <p:nvPr>
            <p:ph idx="100" type="title" hasCustomPrompt="1"/>
          </p:nvPr>
        </p:nvSpPr>
        <p:spPr>
          <a:xfrm>
            <a:off x="548640" y="146304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548640" y="338328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asoft Divo">
  <a:themeElements>
    <a:clrScheme name="Diasoft Divo">
      <a:dk1>
        <a:srgbClr val="0B0B0B"/>
      </a:dk1>
      <a:lt1>
        <a:srgbClr val="FFFFFF"/>
      </a:lt1>
      <a:dk2>
        <a:srgbClr val="0B0B0B"/>
      </a:dk2>
      <a:lt2>
        <a:srgbClr val="F4F4F2"/>
      </a:lt2>
      <a:accent1>
        <a:srgbClr val="0B0B0B"/>
      </a:accent1>
      <a:accent2>
        <a:srgbClr val="FF5B1F"/>
      </a:accent2>
      <a:accent3>
        <a:srgbClr val="E31D2F"/>
      </a:accent3>
      <a:accent4>
        <a:srgbClr val="8A6414"/>
      </a:accent4>
      <a:accent5>
        <a:srgbClr val="2B73FE"/>
      </a:accent5>
      <a:accent6>
        <a:srgbClr val="236B3F"/>
      </a:accent6>
      <a:hlink>
        <a:srgbClr val="0B0B0B"/>
      </a:hlink>
      <a:folHlink>
        <a:srgbClr val="1F1F1E"/>
      </a:folHlink>
    </a:clrScheme>
    <a:fontScheme name="Diasoft Div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Интеграция Diasoft FA# Treasury.Back и ESM-платформы «Диво»</dc:title>
  <dc:subject>Кейс «Свои Финансы», задача 2</dc:subject>
  <dc:creator>Участник стипендиальной программы РСХБ.Цифра</dc:creator>
  <cp:lastModifiedBy>Участник стипендиальной программы РСХБ.Цифра</cp:lastModifiedBy>
  <cp:revision>1</cp:revision>
  <dcterms:created xsi:type="dcterms:W3CDTF">2026-10-26T13:01:06Z</dcterms:created>
  <dcterms:modified xsi:type="dcterms:W3CDTF">2026-10-26T13:01:06Z</dcterms:modified>
</cp:coreProperties>
</file>